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  <p:sldId id="326" r:id="rId28"/>
    <p:sldId id="327" r:id="rId29"/>
    <p:sldId id="328" r:id="rId30"/>
    <p:sldId id="329" r:id="rId31"/>
    <p:sldId id="330" r:id="rId32"/>
    <p:sldId id="331" r:id="rId33"/>
    <p:sldId id="332" r:id="rId34"/>
    <p:sldId id="333" r:id="rId35"/>
    <p:sldId id="334" r:id="rId36"/>
    <p:sldId id="335" r:id="rId37"/>
    <p:sldId id="336" r:id="rId38"/>
    <p:sldId id="337" r:id="rId39"/>
    <p:sldId id="301" r:id="rId40"/>
    <p:sldId id="302" r:id="rId41"/>
    <p:sldId id="303" r:id="rId42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44"/>
      <p:bold r:id="rId45"/>
      <p:italic r:id="rId46"/>
      <p:boldItalic r:id="rId47"/>
    </p:embeddedFont>
    <p:embeddedFont>
      <p:font typeface="Roboto" panose="02000000000000000000" pitchFamily="2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9" roundtripDataSignature="AMtx7mgXxhUw12B+7/CSoe+TCP06S8yI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632"/>
  </p:normalViewPr>
  <p:slideViewPr>
    <p:cSldViewPr snapToGrid="0">
      <p:cViewPr varScale="1">
        <p:scale>
          <a:sx n="195" d="100"/>
          <a:sy n="195" d="100"/>
        </p:scale>
        <p:origin x="432" y="168"/>
      </p:cViewPr>
      <p:guideLst>
        <p:guide orient="horz" pos="218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P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9144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7"/>
          <p:cNvSpPr txBox="1">
            <a:spLocks noGrp="1"/>
          </p:cNvSpPr>
          <p:nvPr>
            <p:ph type="ctrTitle"/>
          </p:nvPr>
        </p:nvSpPr>
        <p:spPr>
          <a:xfrm>
            <a:off x="1142999" y="1840708"/>
            <a:ext cx="6711043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subTitle" idx="1"/>
          </p:nvPr>
        </p:nvSpPr>
        <p:spPr>
          <a:xfrm>
            <a:off x="1143000" y="4501924"/>
            <a:ext cx="6711043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dt" idx="10"/>
          </p:nvPr>
        </p:nvSpPr>
        <p:spPr>
          <a:xfrm>
            <a:off x="28302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17" name="Google Shape;17;p7"/>
          <p:cNvSpPr txBox="1">
            <a:spLocks noGrp="1"/>
          </p:cNvSpPr>
          <p:nvPr>
            <p:ph type="ftr" idx="11"/>
          </p:nvPr>
        </p:nvSpPr>
        <p:spPr>
          <a:xfrm>
            <a:off x="2544536" y="6355444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18" name="Google Shape;18;p7"/>
          <p:cNvSpPr txBox="1">
            <a:spLocks noGrp="1"/>
          </p:cNvSpPr>
          <p:nvPr>
            <p:ph type="sldNum" idx="12"/>
          </p:nvPr>
        </p:nvSpPr>
        <p:spPr>
          <a:xfrm>
            <a:off x="5834744" y="6355444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6885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244929" y="365126"/>
            <a:ext cx="768531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283029" y="1825625"/>
            <a:ext cx="764721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28302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2544536" y="6355444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5834744" y="6355444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7059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>
            <a:spLocks noGrp="1"/>
          </p:cNvSpPr>
          <p:nvPr>
            <p:ph type="dt" idx="10"/>
          </p:nvPr>
        </p:nvSpPr>
        <p:spPr>
          <a:xfrm>
            <a:off x="28302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ftr" idx="11"/>
          </p:nvPr>
        </p:nvSpPr>
        <p:spPr>
          <a:xfrm>
            <a:off x="2544536" y="6355444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sldNum" idx="12"/>
          </p:nvPr>
        </p:nvSpPr>
        <p:spPr>
          <a:xfrm>
            <a:off x="5834744" y="6355444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10615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Solo el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>
            <a:spLocks noGrp="1"/>
          </p:cNvSpPr>
          <p:nvPr>
            <p:ph type="title"/>
          </p:nvPr>
        </p:nvSpPr>
        <p:spPr>
          <a:xfrm>
            <a:off x="244929" y="365126"/>
            <a:ext cx="768531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dt" idx="10"/>
          </p:nvPr>
        </p:nvSpPr>
        <p:spPr>
          <a:xfrm>
            <a:off x="28302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ftr" idx="11"/>
          </p:nvPr>
        </p:nvSpPr>
        <p:spPr>
          <a:xfrm>
            <a:off x="2544536" y="6355444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5834744" y="6355444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733922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Contenido con título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>
            <a:spLocks noGrp="1"/>
          </p:cNvSpPr>
          <p:nvPr>
            <p:ph type="title"/>
          </p:nvPr>
        </p:nvSpPr>
        <p:spPr>
          <a:xfrm>
            <a:off x="283029" y="399143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1"/>
          </p:nvPr>
        </p:nvSpPr>
        <p:spPr>
          <a:xfrm>
            <a:off x="3316061" y="99218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400"/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100"/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5pPr>
            <a:lvl6pPr marL="2057400" lvl="5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2400300" lvl="6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2743200" lvl="7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3086100" lvl="8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2"/>
          </p:nvPr>
        </p:nvSpPr>
        <p:spPr>
          <a:xfrm>
            <a:off x="283029" y="2049462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dt" idx="10"/>
          </p:nvPr>
        </p:nvSpPr>
        <p:spPr>
          <a:xfrm>
            <a:off x="28302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53" name="Google Shape;53;p14"/>
          <p:cNvSpPr txBox="1">
            <a:spLocks noGrp="1"/>
          </p:cNvSpPr>
          <p:nvPr>
            <p:ph type="ftr" idx="11"/>
          </p:nvPr>
        </p:nvSpPr>
        <p:spPr>
          <a:xfrm>
            <a:off x="2544536" y="6355444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5834744" y="6355444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28315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>
            <a:spLocks noGrp="1"/>
          </p:cNvSpPr>
          <p:nvPr>
            <p:ph type="title"/>
          </p:nvPr>
        </p:nvSpPr>
        <p:spPr>
          <a:xfrm>
            <a:off x="244929" y="365126"/>
            <a:ext cx="768531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1"/>
          </p:nvPr>
        </p:nvSpPr>
        <p:spPr>
          <a:xfrm rot="5400000">
            <a:off x="1930967" y="177686"/>
            <a:ext cx="4351338" cy="764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28302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2544536" y="6355444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5834744" y="6355444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9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 rot="5400000">
            <a:off x="4148704" y="2362767"/>
            <a:ext cx="5811838" cy="1816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body" idx="1"/>
          </p:nvPr>
        </p:nvSpPr>
        <p:spPr>
          <a:xfrm rot="5400000">
            <a:off x="277473" y="370682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4" name="Google Shape;64;p17"/>
          <p:cNvSpPr txBox="1">
            <a:spLocks noGrp="1"/>
          </p:cNvSpPr>
          <p:nvPr>
            <p:ph type="dt" idx="10"/>
          </p:nvPr>
        </p:nvSpPr>
        <p:spPr>
          <a:xfrm>
            <a:off x="28302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65" name="Google Shape;65;p17"/>
          <p:cNvSpPr txBox="1">
            <a:spLocks noGrp="1"/>
          </p:cNvSpPr>
          <p:nvPr>
            <p:ph type="ftr" idx="11"/>
          </p:nvPr>
        </p:nvSpPr>
        <p:spPr>
          <a:xfrm>
            <a:off x="2544536" y="6355444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66" name="Google Shape;66;p17"/>
          <p:cNvSpPr txBox="1">
            <a:spLocks noGrp="1"/>
          </p:cNvSpPr>
          <p:nvPr>
            <p:ph type="sldNum" idx="12"/>
          </p:nvPr>
        </p:nvSpPr>
        <p:spPr>
          <a:xfrm>
            <a:off x="5834744" y="6355444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2230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de cierre">
  <p:cSld name="Diseño de cierre">
    <p:bg>
      <p:bgPr>
        <a:solidFill>
          <a:srgbClr val="FFFFFF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9bebcc09665a62_8"/>
          <p:cNvSpPr/>
          <p:nvPr/>
        </p:nvSpPr>
        <p:spPr>
          <a:xfrm>
            <a:off x="10181" y="16300"/>
            <a:ext cx="9144000" cy="6841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pic>
        <p:nvPicPr>
          <p:cNvPr id="69" name="Google Shape;69;g119bebcc09665a62_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80621" y="2481580"/>
            <a:ext cx="3382758" cy="18948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312118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283029" y="399142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27" name="Google Shape;27;p15"/>
          <p:cNvSpPr>
            <a:spLocks noGrp="1"/>
          </p:cNvSpPr>
          <p:nvPr>
            <p:ph type="pic" idx="2"/>
          </p:nvPr>
        </p:nvSpPr>
        <p:spPr>
          <a:xfrm>
            <a:off x="3370319" y="992188"/>
            <a:ext cx="4570809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15"/>
          <p:cNvSpPr txBox="1">
            <a:spLocks noGrp="1"/>
          </p:cNvSpPr>
          <p:nvPr>
            <p:ph type="body" idx="1"/>
          </p:nvPr>
        </p:nvSpPr>
        <p:spPr>
          <a:xfrm>
            <a:off x="283029" y="2049462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28302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2544536" y="6355444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5834744" y="6355444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08534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244929" y="365126"/>
            <a:ext cx="768531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244930" y="1789339"/>
            <a:ext cx="384809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2"/>
          </p:nvPr>
        </p:nvSpPr>
        <p:spPr>
          <a:xfrm>
            <a:off x="4245429" y="1789339"/>
            <a:ext cx="368481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28302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2544536" y="6355444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5834744" y="6355444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4106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 txBox="1">
            <a:spLocks noGrp="1"/>
          </p:cNvSpPr>
          <p:nvPr>
            <p:ph type="title"/>
          </p:nvPr>
        </p:nvSpPr>
        <p:spPr>
          <a:xfrm>
            <a:off x="722313" y="3284984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Roboto"/>
              <a:buNone/>
              <a:defRPr sz="4000" b="1" cap="none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87795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6"/>
          <p:cNvPicPr preferRelativeResize="0"/>
          <p:nvPr/>
        </p:nvPicPr>
        <p:blipFill rotWithShape="1">
          <a:blip r:embed="rId13">
            <a:alphaModFix/>
          </a:blip>
          <a:srcRect l="650"/>
          <a:stretch/>
        </p:blipFill>
        <p:spPr>
          <a:xfrm>
            <a:off x="0" y="0"/>
            <a:ext cx="9144000" cy="685264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6"/>
          <p:cNvSpPr txBox="1">
            <a:spLocks noGrp="1"/>
          </p:cNvSpPr>
          <p:nvPr>
            <p:ph type="title"/>
          </p:nvPr>
        </p:nvSpPr>
        <p:spPr>
          <a:xfrm>
            <a:off x="244929" y="365126"/>
            <a:ext cx="768531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body" idx="1"/>
          </p:nvPr>
        </p:nvSpPr>
        <p:spPr>
          <a:xfrm>
            <a:off x="283029" y="1825625"/>
            <a:ext cx="764721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dt" idx="10"/>
          </p:nvPr>
        </p:nvSpPr>
        <p:spPr>
          <a:xfrm>
            <a:off x="283029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ftr" idx="11"/>
          </p:nvPr>
        </p:nvSpPr>
        <p:spPr>
          <a:xfrm>
            <a:off x="2544536" y="6355444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sldNum" idx="12"/>
          </p:nvPr>
        </p:nvSpPr>
        <p:spPr>
          <a:xfrm>
            <a:off x="5834744" y="6355444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964937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>
            <a:spLocks noGrp="1"/>
          </p:cNvSpPr>
          <p:nvPr>
            <p:ph type="ctrTitle"/>
          </p:nvPr>
        </p:nvSpPr>
        <p:spPr>
          <a:xfrm>
            <a:off x="179512" y="2772844"/>
            <a:ext cx="8784976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100000"/>
              </a:lnSpc>
              <a:buClr>
                <a:srgbClr val="888888"/>
              </a:buClr>
              <a:buSzPts val="650"/>
            </a:pPr>
            <a:r>
              <a:rPr lang="es-PE" dirty="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Desarrollo de Aplicaciones Empresariales Avanzadas</a:t>
            </a:r>
            <a:endParaRPr lang="es-PE" dirty="0"/>
          </a:p>
        </p:txBody>
      </p:sp>
      <p:sp>
        <p:nvSpPr>
          <p:cNvPr id="75" name="Google Shape;75;p1"/>
          <p:cNvSpPr txBox="1">
            <a:spLocks noGrp="1"/>
          </p:cNvSpPr>
          <p:nvPr>
            <p:ph type="subTitle" idx="1"/>
          </p:nvPr>
        </p:nvSpPr>
        <p:spPr>
          <a:xfrm>
            <a:off x="144016" y="4517228"/>
            <a:ext cx="8820472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50"/>
              <a:buNone/>
            </a:pPr>
            <a:r>
              <a:rPr lang="es-PE" sz="2600" dirty="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Semana: 11</a:t>
            </a:r>
            <a:endParaRPr dirty="0"/>
          </a:p>
        </p:txBody>
      </p:sp>
      <p:sp>
        <p:nvSpPr>
          <p:cNvPr id="76" name="Google Shape;76;p1"/>
          <p:cNvSpPr txBox="1"/>
          <p:nvPr/>
        </p:nvSpPr>
        <p:spPr>
          <a:xfrm>
            <a:off x="184853" y="5982741"/>
            <a:ext cx="6400800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"/>
              <a:buFont typeface="Arial"/>
              <a:buNone/>
            </a:pPr>
            <a:r>
              <a:rPr lang="es-PE" sz="2000" dirty="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Entity Framework Core: Code First</a:t>
            </a:r>
            <a:endParaRPr sz="2000" b="0" i="0" u="none" strike="noStrike" cap="none">
              <a:solidFill>
                <a:srgbClr val="88888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"/>
          <p:cNvPicPr preferRelativeResize="0"/>
          <p:nvPr/>
        </p:nvPicPr>
        <p:blipFill rotWithShape="1">
          <a:blip r:embed="rId2">
            <a:alphaModFix/>
          </a:blip>
          <a:srcRect t="25732" b="29180"/>
          <a:stretch/>
        </p:blipFill>
        <p:spPr>
          <a:xfrm>
            <a:off x="0" y="0"/>
            <a:ext cx="9144000" cy="2312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Roboto"/>
              <a:buNone/>
            </a:pPr>
            <a:r>
              <a:rPr lang="es-PE">
                <a:latin typeface="Roboto"/>
                <a:ea typeface="Roboto"/>
                <a:cs typeface="Roboto"/>
                <a:sym typeface="Roboto"/>
              </a:rPr>
              <a:t>Capacidad</a:t>
            </a:r>
            <a:endParaRPr/>
          </a:p>
        </p:txBody>
      </p:sp>
      <p:grpSp>
        <p:nvGrpSpPr>
          <p:cNvPr id="83" name="Google Shape;83;p2"/>
          <p:cNvGrpSpPr/>
          <p:nvPr/>
        </p:nvGrpSpPr>
        <p:grpSpPr>
          <a:xfrm>
            <a:off x="-3857944" y="933456"/>
            <a:ext cx="12524460" cy="5178512"/>
            <a:chOff x="-4315144" y="-666744"/>
            <a:chExt cx="12524460" cy="5178512"/>
          </a:xfrm>
        </p:grpSpPr>
        <p:sp>
          <p:nvSpPr>
            <p:cNvPr id="84" name="Google Shape;84;p2"/>
            <p:cNvSpPr/>
            <p:nvPr/>
          </p:nvSpPr>
          <p:spPr>
            <a:xfrm>
              <a:off x="-4315144" y="-666744"/>
              <a:ext cx="5178512" cy="5178512"/>
            </a:xfrm>
            <a:prstGeom prst="blockArc">
              <a:avLst>
                <a:gd name="adj1" fmla="val 18900000"/>
                <a:gd name="adj2" fmla="val 2700000"/>
                <a:gd name="adj3" fmla="val 417"/>
              </a:avLst>
            </a:prstGeom>
            <a:noFill/>
            <a:ln w="25400" cap="flat" cmpd="sng">
              <a:solidFill>
                <a:srgbClr val="3B64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706811" y="549300"/>
              <a:ext cx="7502505" cy="1098446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 txBox="1"/>
            <p:nvPr/>
          </p:nvSpPr>
          <p:spPr>
            <a:xfrm>
              <a:off x="706811" y="549300"/>
              <a:ext cx="7502505" cy="10984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1875" tIns="71100" rIns="71100" bIns="71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Roboto"/>
                <a:buNone/>
              </a:pPr>
              <a:r>
                <a:rPr lang="es-PE" sz="24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Entender el enfoque Code First de Entity Framework Core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1752" y="411994"/>
              <a:ext cx="1310117" cy="137305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706811" y="2197277"/>
              <a:ext cx="7502505" cy="1098446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 txBox="1"/>
            <p:nvPr/>
          </p:nvSpPr>
          <p:spPr>
            <a:xfrm>
              <a:off x="706811" y="2197277"/>
              <a:ext cx="7502505" cy="10984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1875" tIns="71100" rIns="71100" bIns="71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Roboto"/>
                <a:buNone/>
              </a:pPr>
              <a:r>
                <a:rPr lang="es-PE" sz="24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Realizar ejercicios de MVC con EF Core (Code First) y migraciones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20282" y="2059971"/>
              <a:ext cx="1373058" cy="137305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Roboto"/>
              <a:buNone/>
            </a:pPr>
            <a:r>
              <a:rPr lang="es-PE">
                <a:latin typeface="Roboto"/>
                <a:ea typeface="Roboto"/>
                <a:cs typeface="Roboto"/>
                <a:sym typeface="Roboto"/>
              </a:rPr>
              <a:t>Logro de la Sesión</a:t>
            </a:r>
            <a:endParaRPr/>
          </a:p>
        </p:txBody>
      </p:sp>
      <p:grpSp>
        <p:nvGrpSpPr>
          <p:cNvPr id="96" name="Google Shape;96;p3"/>
          <p:cNvGrpSpPr/>
          <p:nvPr/>
        </p:nvGrpSpPr>
        <p:grpSpPr>
          <a:xfrm>
            <a:off x="-3561530" y="933456"/>
            <a:ext cx="12221867" cy="5178512"/>
            <a:chOff x="-4018730" y="-666744"/>
            <a:chExt cx="12221867" cy="5178512"/>
          </a:xfrm>
        </p:grpSpPr>
        <p:sp>
          <p:nvSpPr>
            <p:cNvPr id="97" name="Google Shape;97;p3"/>
            <p:cNvSpPr/>
            <p:nvPr/>
          </p:nvSpPr>
          <p:spPr>
            <a:xfrm>
              <a:off x="-4018730" y="-666744"/>
              <a:ext cx="5178512" cy="5178512"/>
            </a:xfrm>
            <a:prstGeom prst="blockArc">
              <a:avLst>
                <a:gd name="adj1" fmla="val 18900000"/>
                <a:gd name="adj2" fmla="val 2700000"/>
                <a:gd name="adj3" fmla="val 417"/>
              </a:avLst>
            </a:prstGeom>
            <a:noFill/>
            <a:ln w="25400" cap="flat" cmpd="sng">
              <a:solidFill>
                <a:srgbClr val="3B64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1128070" y="998885"/>
              <a:ext cx="7075067" cy="1847252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"/>
            <p:cNvSpPr txBox="1"/>
            <p:nvPr/>
          </p:nvSpPr>
          <p:spPr>
            <a:xfrm>
              <a:off x="1128070" y="998885"/>
              <a:ext cx="7075067" cy="1847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5975" tIns="71100" rIns="71100" bIns="71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Roboto"/>
                <a:buNone/>
              </a:pPr>
              <a:r>
                <a:rPr lang="es-PE" sz="24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Realiza una aplicación web con MVC en .NET y Entity Framework Core (Code First), con migraciones y LINQ</a:t>
              </a:r>
              <a:endPara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26461" y="767979"/>
              <a:ext cx="2203217" cy="2309065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Roboto"/>
              <a:buNone/>
            </a:pPr>
            <a:r>
              <a:rPr lang="es-PE"/>
              <a:t>Contenido a Tratar</a:t>
            </a:r>
            <a:endParaRPr/>
          </a:p>
        </p:txBody>
      </p:sp>
      <p:grpSp>
        <p:nvGrpSpPr>
          <p:cNvPr id="106" name="Google Shape;106;p4"/>
          <p:cNvGrpSpPr/>
          <p:nvPr/>
        </p:nvGrpSpPr>
        <p:grpSpPr>
          <a:xfrm>
            <a:off x="-3889390" y="933456"/>
            <a:ext cx="12524461" cy="5178512"/>
            <a:chOff x="-4346590" y="-666744"/>
            <a:chExt cx="12524461" cy="5178512"/>
          </a:xfrm>
        </p:grpSpPr>
        <p:sp>
          <p:nvSpPr>
            <p:cNvPr id="107" name="Google Shape;107;p4"/>
            <p:cNvSpPr/>
            <p:nvPr/>
          </p:nvSpPr>
          <p:spPr>
            <a:xfrm>
              <a:off x="-4346590" y="-666744"/>
              <a:ext cx="5178512" cy="5178512"/>
            </a:xfrm>
            <a:prstGeom prst="blockArc">
              <a:avLst>
                <a:gd name="adj1" fmla="val 18900000"/>
                <a:gd name="adj2" fmla="val 2700000"/>
                <a:gd name="adj3" fmla="val 417"/>
              </a:avLst>
            </a:prstGeom>
            <a:noFill/>
            <a:ln w="25400" cap="flat" cmpd="sng">
              <a:solidFill>
                <a:srgbClr val="3B64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435820" y="295605"/>
              <a:ext cx="7742050" cy="591518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"/>
            <p:cNvSpPr txBox="1"/>
            <p:nvPr/>
          </p:nvSpPr>
          <p:spPr>
            <a:xfrm>
              <a:off x="435820" y="295605"/>
              <a:ext cx="7742050" cy="591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9500" tIns="71100" rIns="71100" bIns="71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Roboto"/>
                <a:buNone/>
              </a:pPr>
              <a:r>
                <a:rPr lang="es-PE" sz="28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Introducción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66121" y="221665"/>
              <a:ext cx="739398" cy="7393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774952" y="1183036"/>
              <a:ext cx="7402919" cy="591518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"/>
            <p:cNvSpPr txBox="1"/>
            <p:nvPr/>
          </p:nvSpPr>
          <p:spPr>
            <a:xfrm>
              <a:off x="774952" y="1183036"/>
              <a:ext cx="7402919" cy="591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9500" tIns="71100" rIns="71100" bIns="71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Roboto"/>
                <a:buNone/>
              </a:pPr>
              <a:r>
                <a:rPr lang="es-PE" sz="28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Modelo y Data Annotations</a:t>
              </a:r>
              <a:endParaRPr sz="2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422200" y="1109097"/>
              <a:ext cx="705504" cy="7393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774952" y="2070468"/>
              <a:ext cx="7402919" cy="591518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"/>
            <p:cNvSpPr txBox="1"/>
            <p:nvPr/>
          </p:nvSpPr>
          <p:spPr>
            <a:xfrm>
              <a:off x="774952" y="2070468"/>
              <a:ext cx="7402919" cy="591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9500" tIns="71100" rIns="71100" bIns="71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Roboto"/>
                <a:buNone/>
              </a:pPr>
              <a:r>
                <a:rPr lang="es-PE" sz="28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Migraciones</a:t>
              </a:r>
              <a:endParaRPr sz="2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Roboto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405253" y="1996528"/>
              <a:ext cx="739398" cy="7393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435820" y="2957900"/>
              <a:ext cx="7742050" cy="591518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"/>
            <p:cNvSpPr txBox="1"/>
            <p:nvPr/>
          </p:nvSpPr>
          <p:spPr>
            <a:xfrm>
              <a:off x="435820" y="2957900"/>
              <a:ext cx="7742050" cy="591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9500" tIns="71100" rIns="71100" bIns="71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Roboto"/>
                <a:buNone/>
              </a:pPr>
              <a:r>
                <a:rPr lang="es-PE" sz="28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Datos iniciales y CRUD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66121" y="2883960"/>
              <a:ext cx="739398" cy="739398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 empezar</a:t>
            </a:r>
          </a:p>
        </p:txBody>
      </p:sp>
      <p:sp>
        <p:nvSpPr>
          <p:cNvPr id="12" name="Pregunta 12"/>
          <p:cNvSpPr/>
          <p:nvPr/>
        </p:nvSpPr>
        <p:spPr>
          <a:xfrm>
            <a:off x="411480" y="2011680"/>
            <a:ext cx="7406640" cy="192024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 wrap="square" lIns="274320" tIns="137160" rIns="274320" bIns="13716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400" b="1" dirty="0">
                <a:solidFill>
                  <a:schemeClr val="dk1"/>
                </a:solidFill>
              </a:rPr>
              <a:t>¿Qué pasaría si en lugar de partir de la base de datos partiéramos de las clases en C# y la base de datos se creara a partir de ellas?</a:t>
            </a:r>
            <a:endParaRPr lang="es-PE" sz="2400" dirty="0"/>
          </a:p>
        </p:txBody>
      </p:sp>
      <p:sp>
        <p:nvSpPr>
          <p:cNvPr id="13" name="Texto 13"/>
          <p:cNvSpPr txBox="1"/>
          <p:nvPr/>
        </p:nvSpPr>
        <p:spPr>
          <a:xfrm>
            <a:off x="411480" y="4160520"/>
            <a:ext cx="7406640" cy="75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dirty="0">
                <a:solidFill>
                  <a:schemeClr val="dk1"/>
                </a:solidFill>
              </a:rPr>
              <a:t>Esa es la idea de </a:t>
            </a:r>
            <a:r>
              <a:rPr lang="es-PE" sz="2000" b="1" dirty="0">
                <a:solidFill>
                  <a:schemeClr val="dk1"/>
                </a:solidFill>
              </a:rPr>
              <a:t>Code First</a:t>
            </a:r>
            <a:r>
              <a:rPr lang="es-PE" sz="2000" dirty="0">
                <a:solidFill>
                  <a:schemeClr val="dk1"/>
                </a:solidFill>
              </a:rPr>
              <a:t>: el código es la fuente de verdad y EF Core crea y actualiza la base de datos.</a:t>
            </a:r>
            <a:endParaRPr lang="es-PE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nda"/>
          <p:cNvSpPr/>
          <p:nvPr/>
        </p:nvSpPr>
        <p:spPr>
          <a:xfrm>
            <a:off x="0" y="649224"/>
            <a:ext cx="9144000" cy="7406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640080"/>
            <a:ext cx="8412480" cy="740664"/>
          </a:xfrm>
        </p:spPr>
        <p:txBody>
          <a:bodyPr/>
          <a:lstStyle/>
          <a:p>
            <a:pPr algn="ctr"/>
            <a:r>
              <a:rPr sz="2800">
                <a:solidFill>
                  <a:srgbClr val="FFFFFF"/>
                </a:solidFill>
              </a:rPr>
              <a:t>Introducción</a:t>
            </a:r>
          </a:p>
        </p:txBody>
      </p:sp>
      <p:sp>
        <p:nvSpPr>
          <p:cNvPr id="13" name="Caja 13"/>
          <p:cNvSpPr/>
          <p:nvPr/>
        </p:nvSpPr>
        <p:spPr>
          <a:xfrm>
            <a:off x="411480" y="2194560"/>
            <a:ext cx="2124469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b="1" dirty="0">
                <a:solidFill>
                  <a:schemeClr val="lt1"/>
                </a:solidFill>
              </a:rPr>
              <a:t>Clases de C#</a:t>
            </a:r>
            <a:endParaRPr lang="es-PE" sz="20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chemeClr val="lt1"/>
                </a:solidFill>
              </a:rPr>
              <a:t>Autor, Libro</a:t>
            </a:r>
            <a:endParaRPr lang="es-PE" sz="1400" dirty="0"/>
          </a:p>
        </p:txBody>
      </p:sp>
      <p:sp>
        <p:nvSpPr>
          <p:cNvPr id="14" name="Flecha 14"/>
          <p:cNvSpPr/>
          <p:nvPr/>
        </p:nvSpPr>
        <p:spPr>
          <a:xfrm>
            <a:off x="2615949" y="2697480"/>
            <a:ext cx="356616" cy="36576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Caja 15"/>
          <p:cNvSpPr/>
          <p:nvPr/>
        </p:nvSpPr>
        <p:spPr>
          <a:xfrm>
            <a:off x="3052565" y="2194560"/>
            <a:ext cx="2124469" cy="137160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b="1" dirty="0">
                <a:solidFill>
                  <a:schemeClr val="lt1"/>
                </a:solidFill>
              </a:rPr>
              <a:t>EF Core</a:t>
            </a:r>
            <a:endParaRPr lang="es-PE" sz="20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chemeClr val="lt1"/>
                </a:solidFill>
              </a:rPr>
              <a:t>Migraciones</a:t>
            </a:r>
            <a:endParaRPr lang="es-PE" sz="1400" dirty="0"/>
          </a:p>
        </p:txBody>
      </p:sp>
      <p:sp>
        <p:nvSpPr>
          <p:cNvPr id="16" name="Flecha 16"/>
          <p:cNvSpPr/>
          <p:nvPr/>
        </p:nvSpPr>
        <p:spPr>
          <a:xfrm>
            <a:off x="5257034" y="2697480"/>
            <a:ext cx="356616" cy="36576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7" name="Caja 17"/>
          <p:cNvSpPr/>
          <p:nvPr/>
        </p:nvSpPr>
        <p:spPr>
          <a:xfrm>
            <a:off x="5693650" y="2194560"/>
            <a:ext cx="2124469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b="1" dirty="0">
                <a:solidFill>
                  <a:schemeClr val="lt1"/>
                </a:solidFill>
              </a:rPr>
              <a:t>Base de datos</a:t>
            </a:r>
            <a:endParaRPr lang="es-PE" sz="20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chemeClr val="lt1"/>
                </a:solidFill>
              </a:rPr>
              <a:t>Tablas de SQL Server</a:t>
            </a:r>
            <a:endParaRPr lang="es-PE" sz="1400" dirty="0"/>
          </a:p>
        </p:txBody>
      </p:sp>
      <p:sp>
        <p:nvSpPr>
          <p:cNvPr id="18" name="Texto 18"/>
          <p:cNvSpPr txBox="1"/>
          <p:nvPr/>
        </p:nvSpPr>
        <p:spPr>
          <a:xfrm>
            <a:off x="411480" y="3931920"/>
            <a:ext cx="7406640" cy="11677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dirty="0">
                <a:solidFill>
                  <a:schemeClr val="dk1"/>
                </a:solidFill>
              </a:rPr>
              <a:t>Con Code First escribes las clases y EF Core genera el esquema de la base de datos mediante migraciones.</a:t>
            </a:r>
            <a:endParaRPr lang="es-PE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Enfoques de desarrollo</a:t>
            </a:r>
          </a:p>
        </p:txBody>
      </p:sp>
      <p:sp>
        <p:nvSpPr>
          <p:cNvPr id="12" name="Encabezado 12"/>
          <p:cNvSpPr/>
          <p:nvPr/>
        </p:nvSpPr>
        <p:spPr>
          <a:xfrm>
            <a:off x="411480" y="1783080"/>
            <a:ext cx="3611880" cy="868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b="1" dirty="0">
                <a:solidFill>
                  <a:schemeClr val="lt1"/>
                </a:solidFill>
              </a:rPr>
              <a:t>Database First</a:t>
            </a:r>
            <a:endParaRPr lang="es-PE" sz="2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chemeClr val="lt1"/>
                </a:solidFill>
              </a:rPr>
              <a:t>Base de datos primero · Semana pasada</a:t>
            </a:r>
            <a:endParaRPr lang="es-PE" sz="1400" dirty="0"/>
          </a:p>
        </p:txBody>
      </p:sp>
      <p:sp>
        <p:nvSpPr>
          <p:cNvPr id="13" name="Tarjeta 13"/>
          <p:cNvSpPr/>
          <p:nvPr/>
        </p:nvSpPr>
        <p:spPr>
          <a:xfrm>
            <a:off x="411480" y="2651760"/>
            <a:ext cx="3611880" cy="31089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137160" tIns="109728" rIns="137160" bIns="73152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Se parte de una base de datos que ya existe.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EF Core genera las clases de entidades y el DbContext con Scaffold-DbContext.</a:t>
            </a:r>
            <a:endParaRPr lang="es-PE" sz="1800" dirty="0"/>
          </a:p>
        </p:txBody>
      </p:sp>
      <p:sp>
        <p:nvSpPr>
          <p:cNvPr id="14" name="Encabezado 14"/>
          <p:cNvSpPr/>
          <p:nvPr/>
        </p:nvSpPr>
        <p:spPr>
          <a:xfrm>
            <a:off x="4206240" y="1783080"/>
            <a:ext cx="3611880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b="1" dirty="0">
                <a:solidFill>
                  <a:schemeClr val="lt1"/>
                </a:solidFill>
              </a:rPr>
              <a:t>Code First</a:t>
            </a:r>
            <a:endParaRPr lang="es-PE" sz="2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chemeClr val="lt1"/>
                </a:solidFill>
              </a:rPr>
              <a:t>Código primero · Hoy</a:t>
            </a:r>
            <a:endParaRPr lang="es-PE" sz="1400" dirty="0"/>
          </a:p>
        </p:txBody>
      </p:sp>
      <p:sp>
        <p:nvSpPr>
          <p:cNvPr id="15" name="Tarjeta 15"/>
          <p:cNvSpPr/>
          <p:nvPr/>
        </p:nvSpPr>
        <p:spPr>
          <a:xfrm>
            <a:off x="4206240" y="2651760"/>
            <a:ext cx="3611880" cy="31089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137160" tIns="109728" rIns="137160" bIns="73152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Se parte de las clases de C# (dominio).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EF Core crea la base de datos y las tablas mediante migraciones.</a:t>
            </a:r>
            <a:endParaRPr lang="es-PE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¿Cuándo usar cada uno?</a:t>
            </a:r>
          </a:p>
        </p:txBody>
      </p:sp>
      <p:sp>
        <p:nvSpPr>
          <p:cNvPr id="12" name="Encabezado 12"/>
          <p:cNvSpPr/>
          <p:nvPr/>
        </p:nvSpPr>
        <p:spPr>
          <a:xfrm>
            <a:off x="411480" y="1783080"/>
            <a:ext cx="3611880" cy="5943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b="1" dirty="0">
                <a:solidFill>
                  <a:schemeClr val="lt1"/>
                </a:solidFill>
              </a:rPr>
              <a:t>Database First</a:t>
            </a:r>
            <a:endParaRPr lang="es-PE" sz="2200" dirty="0"/>
          </a:p>
        </p:txBody>
      </p:sp>
      <p:sp>
        <p:nvSpPr>
          <p:cNvPr id="13" name="Tarjeta 13"/>
          <p:cNvSpPr/>
          <p:nvPr/>
        </p:nvSpPr>
        <p:spPr>
          <a:xfrm>
            <a:off x="411480" y="2377440"/>
            <a:ext cx="3611880" cy="31089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137160" tIns="109728" rIns="137160" bIns="73152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Ya existe la base de datos (sistemas heredados).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El esquema lo controla un DBA.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Varias aplicaciones comparten la misma base de datos.</a:t>
            </a:r>
            <a:endParaRPr lang="es-PE" sz="1800" dirty="0"/>
          </a:p>
        </p:txBody>
      </p:sp>
      <p:sp>
        <p:nvSpPr>
          <p:cNvPr id="14" name="Encabezado 14"/>
          <p:cNvSpPr/>
          <p:nvPr/>
        </p:nvSpPr>
        <p:spPr>
          <a:xfrm>
            <a:off x="4206240" y="1783080"/>
            <a:ext cx="3611880" cy="594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b="1" dirty="0">
                <a:solidFill>
                  <a:schemeClr val="lt1"/>
                </a:solidFill>
              </a:rPr>
              <a:t>Code First</a:t>
            </a:r>
            <a:endParaRPr lang="es-PE" sz="2200" dirty="0"/>
          </a:p>
        </p:txBody>
      </p:sp>
      <p:sp>
        <p:nvSpPr>
          <p:cNvPr id="15" name="Tarjeta 15"/>
          <p:cNvSpPr/>
          <p:nvPr/>
        </p:nvSpPr>
        <p:spPr>
          <a:xfrm>
            <a:off x="4206240" y="2377440"/>
            <a:ext cx="3611880" cy="31089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137160" tIns="109728" rIns="137160" bIns="73152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Proyecto nuevo.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El dominio (las clases) guía el diseño.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Quieres versionar los cambios del esquema junto al código.</a:t>
            </a:r>
            <a:endParaRPr lang="es-PE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 trabajo Code First</a:t>
            </a:r>
          </a:p>
        </p:txBody>
      </p:sp>
      <p:sp>
        <p:nvSpPr>
          <p:cNvPr id="12" name="Fila 12"/>
          <p:cNvSpPr/>
          <p:nvPr/>
        </p:nvSpPr>
        <p:spPr>
          <a:xfrm>
            <a:off x="822960" y="1783080"/>
            <a:ext cx="6995160" cy="685800"/>
          </a:xfrm>
          <a:prstGeom prst="roundRect">
            <a:avLst>
              <a:gd name="adj" fmla="val 15000"/>
            </a:avLst>
          </a:prstGeom>
          <a:solidFill>
            <a:schemeClr val="lt2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Número 13"/>
          <p:cNvSpPr/>
          <p:nvPr/>
        </p:nvSpPr>
        <p:spPr>
          <a:xfrm>
            <a:off x="411480" y="1801368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b="1" dirty="0">
                <a:solidFill>
                  <a:schemeClr val="lt1"/>
                </a:solidFill>
              </a:rPr>
              <a:t>1</a:t>
            </a:r>
            <a:endParaRPr lang="es-PE" sz="2200" dirty="0"/>
          </a:p>
        </p:txBody>
      </p:sp>
      <p:sp>
        <p:nvSpPr>
          <p:cNvPr id="14" name="Paso 14"/>
          <p:cNvSpPr txBox="1"/>
          <p:nvPr/>
        </p:nvSpPr>
        <p:spPr>
          <a:xfrm>
            <a:off x="1234440" y="1783080"/>
            <a:ext cx="6492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dirty="0">
                <a:solidFill>
                  <a:schemeClr val="dk1"/>
                </a:solidFill>
              </a:rPr>
              <a:t>Definir las entidades como clases de C#</a:t>
            </a:r>
            <a:endParaRPr lang="es-PE" sz="2000" dirty="0"/>
          </a:p>
        </p:txBody>
      </p:sp>
      <p:sp>
        <p:nvSpPr>
          <p:cNvPr id="15" name="Fila 15"/>
          <p:cNvSpPr/>
          <p:nvPr/>
        </p:nvSpPr>
        <p:spPr>
          <a:xfrm>
            <a:off x="822960" y="2651760"/>
            <a:ext cx="6995160" cy="685800"/>
          </a:xfrm>
          <a:prstGeom prst="roundRect">
            <a:avLst>
              <a:gd name="adj" fmla="val 15000"/>
            </a:avLst>
          </a:prstGeom>
          <a:solidFill>
            <a:schemeClr val="lt2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Número 16"/>
          <p:cNvSpPr/>
          <p:nvPr/>
        </p:nvSpPr>
        <p:spPr>
          <a:xfrm>
            <a:off x="411480" y="2670048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b="1" dirty="0">
                <a:solidFill>
                  <a:schemeClr val="lt1"/>
                </a:solidFill>
              </a:rPr>
              <a:t>2</a:t>
            </a:r>
            <a:endParaRPr lang="es-PE" sz="2200" dirty="0"/>
          </a:p>
        </p:txBody>
      </p:sp>
      <p:sp>
        <p:nvSpPr>
          <p:cNvPr id="17" name="Paso 17"/>
          <p:cNvSpPr txBox="1"/>
          <p:nvPr/>
        </p:nvSpPr>
        <p:spPr>
          <a:xfrm>
            <a:off x="1234440" y="2651760"/>
            <a:ext cx="6492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dirty="0">
                <a:solidFill>
                  <a:schemeClr val="dk1"/>
                </a:solidFill>
              </a:rPr>
              <a:t>Crear el DbContext y registrar la conexión</a:t>
            </a:r>
            <a:endParaRPr lang="es-PE" sz="2000" dirty="0"/>
          </a:p>
        </p:txBody>
      </p:sp>
      <p:sp>
        <p:nvSpPr>
          <p:cNvPr id="18" name="Fila 18"/>
          <p:cNvSpPr/>
          <p:nvPr/>
        </p:nvSpPr>
        <p:spPr>
          <a:xfrm>
            <a:off x="822960" y="3520440"/>
            <a:ext cx="6995160" cy="685800"/>
          </a:xfrm>
          <a:prstGeom prst="roundRect">
            <a:avLst>
              <a:gd name="adj" fmla="val 15000"/>
            </a:avLst>
          </a:prstGeom>
          <a:solidFill>
            <a:schemeClr val="lt2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9" name="Número 19"/>
          <p:cNvSpPr/>
          <p:nvPr/>
        </p:nvSpPr>
        <p:spPr>
          <a:xfrm>
            <a:off x="411480" y="3538728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b="1" dirty="0">
                <a:solidFill>
                  <a:schemeClr val="lt1"/>
                </a:solidFill>
              </a:rPr>
              <a:t>3</a:t>
            </a:r>
            <a:endParaRPr lang="es-PE" sz="2200" dirty="0"/>
          </a:p>
        </p:txBody>
      </p:sp>
      <p:sp>
        <p:nvSpPr>
          <p:cNvPr id="20" name="Paso 20"/>
          <p:cNvSpPr txBox="1"/>
          <p:nvPr/>
        </p:nvSpPr>
        <p:spPr>
          <a:xfrm>
            <a:off x="1234440" y="3520440"/>
            <a:ext cx="6492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dirty="0">
                <a:solidFill>
                  <a:schemeClr val="dk1"/>
                </a:solidFill>
              </a:rPr>
              <a:t>Crear la migración con Add-Migration</a:t>
            </a:r>
            <a:endParaRPr lang="es-PE" sz="2000" dirty="0"/>
          </a:p>
        </p:txBody>
      </p:sp>
      <p:sp>
        <p:nvSpPr>
          <p:cNvPr id="21" name="Fila 21"/>
          <p:cNvSpPr/>
          <p:nvPr/>
        </p:nvSpPr>
        <p:spPr>
          <a:xfrm>
            <a:off x="822960" y="4389120"/>
            <a:ext cx="6995160" cy="685800"/>
          </a:xfrm>
          <a:prstGeom prst="roundRect">
            <a:avLst>
              <a:gd name="adj" fmla="val 15000"/>
            </a:avLst>
          </a:prstGeom>
          <a:solidFill>
            <a:schemeClr val="lt2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2" name="Número 22"/>
          <p:cNvSpPr/>
          <p:nvPr/>
        </p:nvSpPr>
        <p:spPr>
          <a:xfrm>
            <a:off x="411480" y="4407408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b="1" dirty="0">
                <a:solidFill>
                  <a:schemeClr val="lt1"/>
                </a:solidFill>
              </a:rPr>
              <a:t>4</a:t>
            </a:r>
            <a:endParaRPr lang="es-PE" sz="2200" dirty="0"/>
          </a:p>
        </p:txBody>
      </p:sp>
      <p:sp>
        <p:nvSpPr>
          <p:cNvPr id="23" name="Paso 23"/>
          <p:cNvSpPr txBox="1"/>
          <p:nvPr/>
        </p:nvSpPr>
        <p:spPr>
          <a:xfrm>
            <a:off x="1234440" y="4389120"/>
            <a:ext cx="6492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dirty="0">
                <a:solidFill>
                  <a:schemeClr val="dk1"/>
                </a:solidFill>
              </a:rPr>
              <a:t>Aplicarla a la base con Update-Database</a:t>
            </a:r>
            <a:endParaRPr lang="es-PE" sz="2000" dirty="0"/>
          </a:p>
        </p:txBody>
      </p:sp>
      <p:sp>
        <p:nvSpPr>
          <p:cNvPr id="24" name="Fila 24"/>
          <p:cNvSpPr/>
          <p:nvPr/>
        </p:nvSpPr>
        <p:spPr>
          <a:xfrm>
            <a:off x="822960" y="5257800"/>
            <a:ext cx="6995160" cy="685800"/>
          </a:xfrm>
          <a:prstGeom prst="roundRect">
            <a:avLst>
              <a:gd name="adj" fmla="val 15000"/>
            </a:avLst>
          </a:prstGeom>
          <a:solidFill>
            <a:schemeClr val="lt2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5" name="Número 25"/>
          <p:cNvSpPr/>
          <p:nvPr/>
        </p:nvSpPr>
        <p:spPr>
          <a:xfrm>
            <a:off x="411480" y="5276088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b="1" dirty="0">
                <a:solidFill>
                  <a:schemeClr val="lt1"/>
                </a:solidFill>
              </a:rPr>
              <a:t>5</a:t>
            </a:r>
            <a:endParaRPr lang="es-PE" sz="2200" dirty="0"/>
          </a:p>
        </p:txBody>
      </p:sp>
      <p:sp>
        <p:nvSpPr>
          <p:cNvPr id="26" name="Paso 26"/>
          <p:cNvSpPr txBox="1"/>
          <p:nvPr/>
        </p:nvSpPr>
        <p:spPr>
          <a:xfrm>
            <a:off x="1234440" y="5257800"/>
            <a:ext cx="6492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dirty="0">
                <a:solidFill>
                  <a:schemeClr val="dk1"/>
                </a:solidFill>
              </a:rPr>
              <a:t>Consultar con LINQ y guardar con SaveChanges</a:t>
            </a:r>
            <a:endParaRPr lang="es-PE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nda"/>
          <p:cNvSpPr/>
          <p:nvPr/>
        </p:nvSpPr>
        <p:spPr>
          <a:xfrm>
            <a:off x="0" y="649224"/>
            <a:ext cx="9144000" cy="7406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640080"/>
            <a:ext cx="8412480" cy="740664"/>
          </a:xfrm>
        </p:spPr>
        <p:txBody>
          <a:bodyPr/>
          <a:lstStyle/>
          <a:p>
            <a:pPr algn="ctr"/>
            <a:r>
              <a:rPr sz="2800">
                <a:solidFill>
                  <a:srgbClr val="FFFFFF"/>
                </a:solidFill>
              </a:rPr>
              <a:t>Instalación</a:t>
            </a:r>
          </a:p>
        </p:txBody>
      </p:sp>
      <p:sp>
        <p:nvSpPr>
          <p:cNvPr id="13" name="Paquete 13"/>
          <p:cNvSpPr/>
          <p:nvPr/>
        </p:nvSpPr>
        <p:spPr>
          <a:xfrm>
            <a:off x="685800" y="1874520"/>
            <a:ext cx="6858000" cy="73152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>
                <a:solidFill>
                  <a:schemeClr val="lt1"/>
                </a:solidFill>
              </a:rPr>
              <a:t>Microsoft.EntityFrameworkCore.SqlServer</a:t>
            </a:r>
            <a:endParaRPr lang="es-PE" sz="1800" dirty="0"/>
          </a:p>
        </p:txBody>
      </p:sp>
      <p:sp>
        <p:nvSpPr>
          <p:cNvPr id="14" name="Paquete 14"/>
          <p:cNvSpPr/>
          <p:nvPr/>
        </p:nvSpPr>
        <p:spPr>
          <a:xfrm>
            <a:off x="685800" y="2788920"/>
            <a:ext cx="6858000" cy="731520"/>
          </a:xfrm>
          <a:prstGeom prst="roundRect">
            <a:avLst>
              <a:gd name="adj" fmla="val 12000"/>
            </a:avLst>
          </a:prstGeom>
          <a:solidFill>
            <a:schemeClr val="dk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>
                <a:solidFill>
                  <a:schemeClr val="lt1"/>
                </a:solidFill>
              </a:rPr>
              <a:t>Microsoft.EntityFrameworkCore.Design</a:t>
            </a:r>
            <a:endParaRPr lang="es-PE" sz="1800" dirty="0"/>
          </a:p>
        </p:txBody>
      </p:sp>
      <p:sp>
        <p:nvSpPr>
          <p:cNvPr id="15" name="Paquete 15"/>
          <p:cNvSpPr/>
          <p:nvPr/>
        </p:nvSpPr>
        <p:spPr>
          <a:xfrm>
            <a:off x="685800" y="3703320"/>
            <a:ext cx="6858000" cy="73152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>
                <a:solidFill>
                  <a:schemeClr val="lt1"/>
                </a:solidFill>
              </a:rPr>
              <a:t>Microsoft.EntityFrameworkCore.Tools</a:t>
            </a:r>
            <a:endParaRPr lang="es-PE" sz="1800" dirty="0"/>
          </a:p>
        </p:txBody>
      </p:sp>
      <p:sp>
        <p:nvSpPr>
          <p:cNvPr id="16" name="Texto 16"/>
          <p:cNvSpPr txBox="1"/>
          <p:nvPr/>
        </p:nvSpPr>
        <p:spPr>
          <a:xfrm>
            <a:off x="411480" y="4754880"/>
            <a:ext cx="7406640" cy="81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dirty="0">
                <a:solidFill>
                  <a:schemeClr val="dk1"/>
                </a:solidFill>
              </a:rPr>
              <a:t>Son los mismos paquetes de la semana pasada. Design y Tools habilitan los comandos de migraciones.</a:t>
            </a:r>
            <a:endParaRPr lang="es-PE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Convenciones de EF Core</a:t>
            </a:r>
          </a:p>
        </p:txBody>
      </p:sp>
      <p:sp>
        <p:nvSpPr>
          <p:cNvPr id="12" name="Texto 12"/>
          <p:cNvSpPr txBox="1"/>
          <p:nvPr/>
        </p:nvSpPr>
        <p:spPr>
          <a:xfrm>
            <a:off x="411480" y="1783080"/>
            <a:ext cx="7406640" cy="691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>
                <a:solidFill>
                  <a:schemeClr val="dk1"/>
                </a:solidFill>
              </a:rPr>
              <a:t>Una entidad es una clase de C# que representa una tabla. EF Core deduce el esquema a partir de la clase:</a:t>
            </a:r>
            <a:endParaRPr lang="es-PE" sz="18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2564580"/>
          <a:ext cx="7406640" cy="28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8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En la clase</a:t>
                      </a:r>
                    </a:p>
                  </a:txBody>
                  <a:tcPr marT="54864" marB="54864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En SQL Server</a:t>
                      </a:r>
                    </a:p>
                  </a:txBody>
                  <a:tcPr marT="54864" marB="54864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8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</a:rPr>
                        <a:t>Propiedad Id o LibroId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</a:rPr>
                        <a:t>Clave primaria (IDENTITY si es int)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8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</a:rPr>
                        <a:t>string no nulo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</a:rPr>
                        <a:t>nvarchar(max) NOT NULL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8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</a:rPr>
                        <a:t>string? (nulo)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</a:rPr>
                        <a:t>nvarchar(max) NULL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6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</a:rPr>
                        <a:t>decimal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</a:rPr>
                        <a:t>decimal(18,2) (conviene indicar la precisión)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8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</a:rPr>
                        <a:t>Navegación + AutorId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</a:rPr>
                        <a:t>Llave foránea hacia Autores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8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</a:rPr>
                        <a:t>Nombre del DbSet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</a:rPr>
                        <a:t>Nombre de la tabla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Entidad Autor</a:t>
            </a:r>
          </a:p>
        </p:txBody>
      </p:sp>
      <p:sp>
        <p:nvSpPr>
          <p:cNvPr id="12" name="Tarjeta de código 12"/>
          <p:cNvSpPr/>
          <p:nvPr/>
        </p:nvSpPr>
        <p:spPr>
          <a:xfrm>
            <a:off x="411480" y="1783080"/>
            <a:ext cx="7406640" cy="213664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Punto 13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4" name="Punto 14"/>
          <p:cNvSpPr/>
          <p:nvPr/>
        </p:nvSpPr>
        <p:spPr>
          <a:xfrm>
            <a:off x="731520" y="18836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Punto 15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Archivo 16"/>
          <p:cNvSpPr txBox="1"/>
          <p:nvPr/>
        </p:nvSpPr>
        <p:spPr>
          <a:xfrm>
            <a:off x="1143000" y="1819656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Models/Autor.cs</a:t>
            </a:r>
            <a:endParaRPr lang="es-PE" sz="1100" dirty="0"/>
          </a:p>
        </p:txBody>
      </p:sp>
      <p:sp>
        <p:nvSpPr>
          <p:cNvPr id="17" name="Código 17"/>
          <p:cNvSpPr txBox="1"/>
          <p:nvPr/>
        </p:nvSpPr>
        <p:spPr>
          <a:xfrm>
            <a:off x="502920" y="2093976"/>
            <a:ext cx="7223760" cy="1825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6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Autor</a:t>
            </a:r>
            <a:endParaRPr lang="es-PE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lang="es-PE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6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lang="es-PE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6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 =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!;</a:t>
            </a:r>
            <a:endParaRPr lang="es-PE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PE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6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PE" sz="16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Libro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PE" sz="16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Libros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 =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lang="es-PE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s-PE" sz="1600" dirty="0"/>
          </a:p>
        </p:txBody>
      </p:sp>
      <p:sp>
        <p:nvSpPr>
          <p:cNvPr id="18" name="Texto 18"/>
          <p:cNvSpPr txBox="1"/>
          <p:nvPr/>
        </p:nvSpPr>
        <p:spPr>
          <a:xfrm>
            <a:off x="411480" y="4029728"/>
            <a:ext cx="7406640" cy="62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chemeClr val="dk1"/>
                </a:solidFill>
              </a:rPr>
              <a:t>Solo convenciones: Id es la clave primaria y Libros indica que un autor tiene muchos libros.</a:t>
            </a:r>
            <a:endParaRPr lang="es-PE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Entidad Libro con anotaciones</a:t>
            </a:r>
          </a:p>
        </p:txBody>
      </p:sp>
      <p:sp>
        <p:nvSpPr>
          <p:cNvPr id="12" name="Tarjeta de código 12"/>
          <p:cNvSpPr/>
          <p:nvPr/>
        </p:nvSpPr>
        <p:spPr>
          <a:xfrm>
            <a:off x="411480" y="1783080"/>
            <a:ext cx="7406640" cy="340156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Punto 13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4" name="Punto 14"/>
          <p:cNvSpPr/>
          <p:nvPr/>
        </p:nvSpPr>
        <p:spPr>
          <a:xfrm>
            <a:off x="731520" y="18836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Punto 15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Archivo 16"/>
          <p:cNvSpPr txBox="1"/>
          <p:nvPr/>
        </p:nvSpPr>
        <p:spPr>
          <a:xfrm>
            <a:off x="1143000" y="1819656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Models/Libro.cs</a:t>
            </a:r>
            <a:endParaRPr lang="es-PE" sz="1100" dirty="0"/>
          </a:p>
        </p:txBody>
      </p:sp>
      <p:sp>
        <p:nvSpPr>
          <p:cNvPr id="17" name="Código 17"/>
          <p:cNvSpPr txBox="1"/>
          <p:nvPr/>
        </p:nvSpPr>
        <p:spPr>
          <a:xfrm>
            <a:off x="502920" y="2093976"/>
            <a:ext cx="7223760" cy="309067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Libro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[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StringLength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PE" sz="15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150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)]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Titulo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 =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!;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[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Column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TypeName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PE" sz="15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"decimal(8,2)"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)]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decimal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Precio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AutorId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Autor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Autor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 =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!;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s-PE" sz="1500" dirty="0"/>
          </a:p>
        </p:txBody>
      </p:sp>
      <p:sp>
        <p:nvSpPr>
          <p:cNvPr id="18" name="Texto 18"/>
          <p:cNvSpPr txBox="1"/>
          <p:nvPr/>
        </p:nvSpPr>
        <p:spPr>
          <a:xfrm>
            <a:off x="411480" y="5294648"/>
            <a:ext cx="7406640" cy="62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chemeClr val="dk1"/>
                </a:solidFill>
              </a:rPr>
              <a:t>[Required] y [StringLength] definen nvarchar(150) NOT NULL. AutorId junto a la propiedad Autor forma la llave foránea.</a:t>
            </a:r>
            <a:endParaRPr lang="es-PE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Annotations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783080"/>
          <a:ext cx="7406640" cy="33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6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Anotación</a:t>
                      </a:r>
                    </a:p>
                  </a:txBody>
                  <a:tcPr marT="54864" marB="54864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Efecto en la base de datos</a:t>
                      </a:r>
                    </a:p>
                  </a:txBody>
                  <a:tcPr marT="54864" marB="54864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onsolas"/>
                        </a:rPr>
                        <a:t>[Key]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Define la clave primaria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onsolas"/>
                        </a:rPr>
                        <a:t>[Required]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Columna NOT NULL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onsolas"/>
                        </a:rPr>
                        <a:t>[StringLength(n)]  [MaxLength(n)]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Longitud máxima: nvarchar(n)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onsolas"/>
                        </a:rPr>
                        <a:t>[Column(TypeName = "...")]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Tipo exacto, por ejemplo decimal(8,2)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onsolas"/>
                        </a:rPr>
                        <a:t>[ForeignKey("...")]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Indica la propiedad de la llave foránea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onsolas"/>
                        </a:rPr>
                        <a:t>[Index(nameof(X), IsUnique = true)]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Índice único (se aplica a la clase)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onsolas"/>
                        </a:rPr>
                        <a:t>[NotMapped]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La propiedad no se guarda en la base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o 12"/>
          <p:cNvSpPr txBox="1"/>
          <p:nvPr/>
        </p:nvSpPr>
        <p:spPr>
          <a:xfrm>
            <a:off x="411480" y="5249080"/>
            <a:ext cx="7406640" cy="37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chemeClr val="dk1"/>
                </a:solidFill>
              </a:rPr>
              <a:t>Todo el modelo se configura con convenciones y Data Annotations.</a:t>
            </a:r>
            <a:endParaRPr lang="es-PE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Esquema y validación</a:t>
            </a:r>
          </a:p>
        </p:txBody>
      </p:sp>
      <p:sp>
        <p:nvSpPr>
          <p:cNvPr id="12" name="Encabezado 12"/>
          <p:cNvSpPr/>
          <p:nvPr/>
        </p:nvSpPr>
        <p:spPr>
          <a:xfrm>
            <a:off x="411480" y="1783080"/>
            <a:ext cx="3611880" cy="594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b="1" dirty="0">
                <a:solidFill>
                  <a:schemeClr val="lt1"/>
                </a:solidFill>
              </a:rPr>
              <a:t>Cambian la base de datos</a:t>
            </a:r>
            <a:endParaRPr lang="es-PE" sz="2000" dirty="0"/>
          </a:p>
        </p:txBody>
      </p:sp>
      <p:sp>
        <p:nvSpPr>
          <p:cNvPr id="13" name="Tarjeta 13"/>
          <p:cNvSpPr/>
          <p:nvPr/>
        </p:nvSpPr>
        <p:spPr>
          <a:xfrm>
            <a:off x="411480" y="2377440"/>
            <a:ext cx="3611880" cy="25603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137160" tIns="109728" rIns="137160" bIns="73152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[Key] y [ForeignKey]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[Required]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[StringLength] y [MaxLength]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[Column] e [Index]</a:t>
            </a:r>
            <a:endParaRPr lang="es-PE" sz="1800" dirty="0"/>
          </a:p>
        </p:txBody>
      </p:sp>
      <p:sp>
        <p:nvSpPr>
          <p:cNvPr id="14" name="Encabezado 14"/>
          <p:cNvSpPr/>
          <p:nvPr/>
        </p:nvSpPr>
        <p:spPr>
          <a:xfrm>
            <a:off x="4206240" y="1783080"/>
            <a:ext cx="3611880" cy="5943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b="1" dirty="0">
                <a:solidFill>
                  <a:schemeClr val="lt1"/>
                </a:solidFill>
              </a:rPr>
              <a:t>Solo validan en MVC</a:t>
            </a:r>
            <a:endParaRPr lang="es-PE" sz="2000" dirty="0"/>
          </a:p>
        </p:txBody>
      </p:sp>
      <p:sp>
        <p:nvSpPr>
          <p:cNvPr id="15" name="Tarjeta 15"/>
          <p:cNvSpPr/>
          <p:nvPr/>
        </p:nvSpPr>
        <p:spPr>
          <a:xfrm>
            <a:off x="4206240" y="2377440"/>
            <a:ext cx="3611880" cy="25603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137160" tIns="109728" rIns="137160" bIns="73152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[Range]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[EmailAddress]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[RegularExpression]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[Display]</a:t>
            </a:r>
            <a:endParaRPr lang="es-PE" sz="1800" dirty="0"/>
          </a:p>
        </p:txBody>
      </p:sp>
      <p:sp>
        <p:nvSpPr>
          <p:cNvPr id="16" name="Texto 16"/>
          <p:cNvSpPr txBox="1"/>
          <p:nvPr/>
        </p:nvSpPr>
        <p:spPr>
          <a:xfrm>
            <a:off x="411480" y="5047760"/>
            <a:ext cx="7406640" cy="62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chemeClr val="dk1"/>
                </a:solidFill>
              </a:rPr>
              <a:t>Las de la derecha actúan con ModelState.IsValid, pero no crean restricciones en la tabla.</a:t>
            </a:r>
            <a:endParaRPr lang="es-PE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Relación uno a muchos</a:t>
            </a:r>
          </a:p>
        </p:txBody>
      </p:sp>
      <p:sp>
        <p:nvSpPr>
          <p:cNvPr id="12" name="Caja 12"/>
          <p:cNvSpPr/>
          <p:nvPr/>
        </p:nvSpPr>
        <p:spPr>
          <a:xfrm>
            <a:off x="411480" y="1783080"/>
            <a:ext cx="3445012" cy="118872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b="1" dirty="0">
                <a:solidFill>
                  <a:schemeClr val="lt1"/>
                </a:solidFill>
              </a:rPr>
              <a:t>Autor</a:t>
            </a:r>
            <a:endParaRPr lang="es-PE" sz="20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chemeClr val="lt1"/>
                </a:solidFill>
              </a:rPr>
              <a:t>1</a:t>
            </a:r>
            <a:endParaRPr lang="es-PE" sz="1400" dirty="0"/>
          </a:p>
        </p:txBody>
      </p:sp>
      <p:sp>
        <p:nvSpPr>
          <p:cNvPr id="13" name="Flecha 13"/>
          <p:cNvSpPr/>
          <p:nvPr/>
        </p:nvSpPr>
        <p:spPr>
          <a:xfrm>
            <a:off x="3936492" y="2194560"/>
            <a:ext cx="356616" cy="36576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4" name="Caja 14"/>
          <p:cNvSpPr/>
          <p:nvPr/>
        </p:nvSpPr>
        <p:spPr>
          <a:xfrm>
            <a:off x="4373108" y="1783080"/>
            <a:ext cx="3445012" cy="118872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b="1" dirty="0">
                <a:solidFill>
                  <a:schemeClr val="lt1"/>
                </a:solidFill>
              </a:rPr>
              <a:t>Libro</a:t>
            </a:r>
            <a:endParaRPr lang="es-PE" sz="20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chemeClr val="lt1"/>
                </a:solidFill>
              </a:rPr>
              <a:t>N</a:t>
            </a:r>
            <a:endParaRPr lang="es-PE" sz="1400" dirty="0"/>
          </a:p>
        </p:txBody>
      </p:sp>
      <p:sp>
        <p:nvSpPr>
          <p:cNvPr id="15" name="Contenido 15"/>
          <p:cNvSpPr txBox="1"/>
          <p:nvPr/>
        </p:nvSpPr>
        <p:spPr>
          <a:xfrm>
            <a:off x="411480" y="3301800"/>
            <a:ext cx="7406640" cy="12396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b="1" dirty="0">
                <a:solidFill>
                  <a:schemeClr val="dk1"/>
                </a:solidFill>
              </a:rPr>
              <a:t>Autor.Libros:</a:t>
            </a:r>
            <a:r>
              <a:rPr lang="es-PE" sz="1800" dirty="0">
                <a:solidFill>
                  <a:schemeClr val="dk1"/>
                </a:solidFill>
              </a:rPr>
              <a:t> colección de libros del autor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b="1" dirty="0">
                <a:solidFill>
                  <a:schemeClr val="dk1"/>
                </a:solidFill>
              </a:rPr>
              <a:t>Libro.AutorId:</a:t>
            </a:r>
            <a:r>
              <a:rPr lang="es-PE" sz="1800" dirty="0">
                <a:solidFill>
                  <a:schemeClr val="dk1"/>
                </a:solidFill>
              </a:rPr>
              <a:t> llave foránea (columna en la tabla)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b="1" dirty="0">
                <a:solidFill>
                  <a:schemeClr val="dk1"/>
                </a:solidFill>
              </a:rPr>
              <a:t>Libro.Autor:</a:t>
            </a:r>
            <a:r>
              <a:rPr lang="es-PE" sz="1800" dirty="0">
                <a:solidFill>
                  <a:schemeClr val="dk1"/>
                </a:solidFill>
              </a:rPr>
              <a:t> propiedad de navegación hacia el autor</a:t>
            </a:r>
            <a:endParaRPr lang="es-PE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Relación muchos a muchos</a:t>
            </a:r>
          </a:p>
        </p:txBody>
      </p:sp>
      <p:sp>
        <p:nvSpPr>
          <p:cNvPr id="12" name="Tarjeta de código 12"/>
          <p:cNvSpPr/>
          <p:nvPr/>
        </p:nvSpPr>
        <p:spPr>
          <a:xfrm>
            <a:off x="411480" y="1783080"/>
            <a:ext cx="7406640" cy="294436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Punto 13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4" name="Punto 14"/>
          <p:cNvSpPr/>
          <p:nvPr/>
        </p:nvSpPr>
        <p:spPr>
          <a:xfrm>
            <a:off x="731520" y="18836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Punto 15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Archivo 16"/>
          <p:cNvSpPr txBox="1"/>
          <p:nvPr/>
        </p:nvSpPr>
        <p:spPr>
          <a:xfrm>
            <a:off x="1143000" y="1819656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Models/Alumno.cs y Models/Curso.cs</a:t>
            </a:r>
            <a:endParaRPr lang="es-PE" sz="1100" dirty="0"/>
          </a:p>
        </p:txBody>
      </p:sp>
      <p:sp>
        <p:nvSpPr>
          <p:cNvPr id="17" name="Código 17"/>
          <p:cNvSpPr txBox="1"/>
          <p:nvPr/>
        </p:nvSpPr>
        <p:spPr>
          <a:xfrm>
            <a:off x="502920" y="2093976"/>
            <a:ext cx="7223760" cy="263347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Alumno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Curso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Cursos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 =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Curso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Alumno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Alumnos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 =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s-PE" sz="1500" dirty="0"/>
          </a:p>
        </p:txBody>
      </p:sp>
      <p:sp>
        <p:nvSpPr>
          <p:cNvPr id="18" name="Texto 18"/>
          <p:cNvSpPr txBox="1"/>
          <p:nvPr/>
        </p:nvSpPr>
        <p:spPr>
          <a:xfrm>
            <a:off x="411480" y="4837448"/>
            <a:ext cx="7406640" cy="62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chemeClr val="dk1"/>
                </a:solidFill>
              </a:rPr>
              <a:t>Cada clase tiene una colección de la otra: EF Core crea sola la tabla intermedia AlumnoCurso, sin datos propios.</a:t>
            </a:r>
            <a:endParaRPr lang="es-PE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Muchos a muchos con datos</a:t>
            </a:r>
          </a:p>
        </p:txBody>
      </p:sp>
      <p:sp>
        <p:nvSpPr>
          <p:cNvPr id="12" name="Tarjeta de código 12"/>
          <p:cNvSpPr/>
          <p:nvPr/>
        </p:nvSpPr>
        <p:spPr>
          <a:xfrm>
            <a:off x="411480" y="1783080"/>
            <a:ext cx="7406640" cy="271576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Punto 13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4" name="Punto 14"/>
          <p:cNvSpPr/>
          <p:nvPr/>
        </p:nvSpPr>
        <p:spPr>
          <a:xfrm>
            <a:off x="731520" y="18836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Punto 15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Archivo 16"/>
          <p:cNvSpPr txBox="1"/>
          <p:nvPr/>
        </p:nvSpPr>
        <p:spPr>
          <a:xfrm>
            <a:off x="1143000" y="1819656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Models/Matricula.cs</a:t>
            </a:r>
            <a:endParaRPr lang="es-PE" sz="1100" dirty="0"/>
          </a:p>
        </p:txBody>
      </p:sp>
      <p:sp>
        <p:nvSpPr>
          <p:cNvPr id="17" name="Código 17"/>
          <p:cNvSpPr txBox="1"/>
          <p:nvPr/>
        </p:nvSpPr>
        <p:spPr>
          <a:xfrm>
            <a:off x="502920" y="2093976"/>
            <a:ext cx="7223760" cy="240487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Matricula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AlumnoId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Alumno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Alumno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 =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!;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CursoId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Curso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Curso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 =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!;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DateTime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Fecha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decimal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?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Nota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s-PE" sz="1500" dirty="0"/>
          </a:p>
        </p:txBody>
      </p:sp>
      <p:sp>
        <p:nvSpPr>
          <p:cNvPr id="18" name="Texto 18"/>
          <p:cNvSpPr txBox="1"/>
          <p:nvPr/>
        </p:nvSpPr>
        <p:spPr>
          <a:xfrm>
            <a:off x="411480" y="4608848"/>
            <a:ext cx="7406640" cy="88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chemeClr val="dk1"/>
                </a:solidFill>
              </a:rPr>
              <a:t>Si la relación tiene datos propios (fecha, nota, estado) se crea una entidad intermedia: dos relaciones uno a muchos. Alumno y Curso pasan a tener List&lt;Matricula&gt;.</a:t>
            </a:r>
            <a:endParaRPr lang="es-PE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DbContext en Code First</a:t>
            </a:r>
          </a:p>
        </p:txBody>
      </p:sp>
      <p:sp>
        <p:nvSpPr>
          <p:cNvPr id="12" name="Tarjeta de código 12"/>
          <p:cNvSpPr/>
          <p:nvPr/>
        </p:nvSpPr>
        <p:spPr>
          <a:xfrm>
            <a:off x="411480" y="1783080"/>
            <a:ext cx="7406640" cy="248716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Punto 13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4" name="Punto 14"/>
          <p:cNvSpPr/>
          <p:nvPr/>
        </p:nvSpPr>
        <p:spPr>
          <a:xfrm>
            <a:off x="731520" y="18836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Punto 15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Archivo 16"/>
          <p:cNvSpPr txBox="1"/>
          <p:nvPr/>
        </p:nvSpPr>
        <p:spPr>
          <a:xfrm>
            <a:off x="1143000" y="1819656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Data/BibliotecaContext.cs</a:t>
            </a:r>
            <a:endParaRPr lang="es-PE" sz="1100" dirty="0"/>
          </a:p>
        </p:txBody>
      </p:sp>
      <p:sp>
        <p:nvSpPr>
          <p:cNvPr id="17" name="Código 17"/>
          <p:cNvSpPr txBox="1"/>
          <p:nvPr/>
        </p:nvSpPr>
        <p:spPr>
          <a:xfrm>
            <a:off x="502920" y="2093976"/>
            <a:ext cx="7223760" cy="217627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BibliotecaContext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DbContext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BibliotecaContext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DbContextOptions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BibliotecaContext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 options)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: </a:t>
            </a:r>
            <a:r>
              <a:rPr lang="es-PE" sz="15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base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(options) { }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DbSet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Autor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Autores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=&gt;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Autor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&gt;();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DbSet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Libro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Libros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=&gt;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Libro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&gt;();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s-PE" sz="1500" dirty="0"/>
          </a:p>
        </p:txBody>
      </p:sp>
      <p:sp>
        <p:nvSpPr>
          <p:cNvPr id="18" name="Texto 18"/>
          <p:cNvSpPr txBox="1"/>
          <p:nvPr/>
        </p:nvSpPr>
        <p:spPr>
          <a:xfrm>
            <a:off x="411480" y="4380248"/>
            <a:ext cx="7406640" cy="62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chemeClr val="dk1"/>
                </a:solidFill>
              </a:rPr>
              <a:t>Ahora lo escribes tú (en Database First lo generaba Scaffold). Cada DbSet&lt;T&gt; será una tabla; no hace falta sobrescribir OnModelCreating.</a:t>
            </a:r>
            <a:endParaRPr lang="es-PE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Cadena de conexión</a:t>
            </a:r>
          </a:p>
        </p:txBody>
      </p:sp>
      <p:sp>
        <p:nvSpPr>
          <p:cNvPr id="12" name="Tarjeta de código 12"/>
          <p:cNvSpPr/>
          <p:nvPr/>
        </p:nvSpPr>
        <p:spPr>
          <a:xfrm>
            <a:off x="411480" y="1783080"/>
            <a:ext cx="7406640" cy="142036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Punto 13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4" name="Punto 14"/>
          <p:cNvSpPr/>
          <p:nvPr/>
        </p:nvSpPr>
        <p:spPr>
          <a:xfrm>
            <a:off x="731520" y="18836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Punto 15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Archivo 16"/>
          <p:cNvSpPr txBox="1"/>
          <p:nvPr/>
        </p:nvSpPr>
        <p:spPr>
          <a:xfrm>
            <a:off x="1143000" y="1819656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appsettings.json</a:t>
            </a:r>
            <a:endParaRPr lang="es-PE" sz="1100" dirty="0"/>
          </a:p>
        </p:txBody>
      </p:sp>
      <p:sp>
        <p:nvSpPr>
          <p:cNvPr id="17" name="Código 17"/>
          <p:cNvSpPr txBox="1"/>
          <p:nvPr/>
        </p:nvSpPr>
        <p:spPr>
          <a:xfrm>
            <a:off x="502920" y="2093976"/>
            <a:ext cx="7223760" cy="110947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PE" sz="13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"ConnectionStrings"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{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3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"Biblioteca"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PE" sz="13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"Server=.;Database=BibliotecaCF;Trusted_Connection=True;"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s-PE" sz="1300" dirty="0"/>
          </a:p>
        </p:txBody>
      </p:sp>
      <p:sp>
        <p:nvSpPr>
          <p:cNvPr id="18" name="Tarjeta de código 18"/>
          <p:cNvSpPr/>
          <p:nvPr/>
        </p:nvSpPr>
        <p:spPr>
          <a:xfrm>
            <a:off x="411480" y="3313448"/>
            <a:ext cx="7406640" cy="102412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9" name="Punto 19"/>
          <p:cNvSpPr/>
          <p:nvPr/>
        </p:nvSpPr>
        <p:spPr>
          <a:xfrm>
            <a:off x="548640" y="3414032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0" name="Punto 20"/>
          <p:cNvSpPr/>
          <p:nvPr/>
        </p:nvSpPr>
        <p:spPr>
          <a:xfrm>
            <a:off x="731520" y="341403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1" name="Punto 21"/>
          <p:cNvSpPr/>
          <p:nvPr/>
        </p:nvSpPr>
        <p:spPr>
          <a:xfrm>
            <a:off x="914400" y="3414032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2" name="Archivo 22"/>
          <p:cNvSpPr txBox="1"/>
          <p:nvPr/>
        </p:nvSpPr>
        <p:spPr>
          <a:xfrm>
            <a:off x="1143000" y="3350024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Program.cs</a:t>
            </a:r>
            <a:endParaRPr lang="es-PE" sz="1100" dirty="0"/>
          </a:p>
        </p:txBody>
      </p:sp>
      <p:sp>
        <p:nvSpPr>
          <p:cNvPr id="23" name="Código 23"/>
          <p:cNvSpPr txBox="1"/>
          <p:nvPr/>
        </p:nvSpPr>
        <p:spPr>
          <a:xfrm>
            <a:off x="502920" y="3624344"/>
            <a:ext cx="7223760" cy="71323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builder.</a:t>
            </a:r>
            <a:r>
              <a:rPr lang="es-PE" sz="13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Services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PE" sz="13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AddDbContext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PE" sz="13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BibliotecaContext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&gt;(options =&gt;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options.</a:t>
            </a:r>
            <a:r>
              <a:rPr lang="es-PE" sz="13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UseSqlServer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builder.</a:t>
            </a:r>
            <a:r>
              <a:rPr lang="es-PE" sz="13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Configuration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PE" sz="13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GetConnectionString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PE" sz="13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"Biblioteca"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)));</a:t>
            </a:r>
            <a:endParaRPr lang="es-PE" sz="1300" dirty="0"/>
          </a:p>
        </p:txBody>
      </p:sp>
      <p:sp>
        <p:nvSpPr>
          <p:cNvPr id="24" name="Texto 24"/>
          <p:cNvSpPr txBox="1"/>
          <p:nvPr/>
        </p:nvSpPr>
        <p:spPr>
          <a:xfrm>
            <a:off x="411480" y="4447576"/>
            <a:ext cx="7406640" cy="62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chemeClr val="dk1"/>
                </a:solidFill>
              </a:rPr>
              <a:t>La base BibliotecaCF aún no existe: la creará la migración al ejecutar Update-Database.</a:t>
            </a:r>
            <a:endParaRPr lang="es-PE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nda"/>
          <p:cNvSpPr/>
          <p:nvPr/>
        </p:nvSpPr>
        <p:spPr>
          <a:xfrm>
            <a:off x="0" y="649224"/>
            <a:ext cx="9144000" cy="7406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640080"/>
            <a:ext cx="8412480" cy="740664"/>
          </a:xfrm>
        </p:spPr>
        <p:txBody>
          <a:bodyPr/>
          <a:lstStyle/>
          <a:p>
            <a:pPr algn="ctr"/>
            <a:r>
              <a:rPr sz="2800">
                <a:solidFill>
                  <a:srgbClr val="FFFFFF"/>
                </a:solidFill>
              </a:rPr>
              <a:t>Migraciones</a:t>
            </a:r>
          </a:p>
        </p:txBody>
      </p:sp>
      <p:sp>
        <p:nvSpPr>
          <p:cNvPr id="13" name="Caja 13"/>
          <p:cNvSpPr/>
          <p:nvPr/>
        </p:nvSpPr>
        <p:spPr>
          <a:xfrm>
            <a:off x="411480" y="2194560"/>
            <a:ext cx="2124469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b="1" dirty="0">
                <a:solidFill>
                  <a:schemeClr val="lt1"/>
                </a:solidFill>
              </a:rPr>
              <a:t>Modelo</a:t>
            </a:r>
            <a:endParaRPr lang="es-PE" sz="20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chemeClr val="lt1"/>
                </a:solidFill>
              </a:rPr>
              <a:t>Clases de C#</a:t>
            </a:r>
            <a:endParaRPr lang="es-PE" sz="1400" dirty="0"/>
          </a:p>
        </p:txBody>
      </p:sp>
      <p:sp>
        <p:nvSpPr>
          <p:cNvPr id="14" name="Flecha 14"/>
          <p:cNvSpPr/>
          <p:nvPr/>
        </p:nvSpPr>
        <p:spPr>
          <a:xfrm>
            <a:off x="2615949" y="2697480"/>
            <a:ext cx="356616" cy="36576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Caja 15"/>
          <p:cNvSpPr/>
          <p:nvPr/>
        </p:nvSpPr>
        <p:spPr>
          <a:xfrm>
            <a:off x="3052565" y="2194560"/>
            <a:ext cx="2124469" cy="137160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b="1" dirty="0">
                <a:solidFill>
                  <a:schemeClr val="lt1"/>
                </a:solidFill>
              </a:rPr>
              <a:t>Add-Migration</a:t>
            </a:r>
            <a:endParaRPr lang="es-PE" sz="20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chemeClr val="lt1"/>
                </a:solidFill>
              </a:rPr>
              <a:t>Archivo de migración</a:t>
            </a:r>
            <a:endParaRPr lang="es-PE" sz="1400" dirty="0"/>
          </a:p>
        </p:txBody>
      </p:sp>
      <p:sp>
        <p:nvSpPr>
          <p:cNvPr id="16" name="Flecha 16"/>
          <p:cNvSpPr/>
          <p:nvPr/>
        </p:nvSpPr>
        <p:spPr>
          <a:xfrm>
            <a:off x="5257034" y="2697480"/>
            <a:ext cx="356616" cy="36576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7" name="Caja 17"/>
          <p:cNvSpPr/>
          <p:nvPr/>
        </p:nvSpPr>
        <p:spPr>
          <a:xfrm>
            <a:off x="5693650" y="2194560"/>
            <a:ext cx="2124469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b="1" dirty="0">
                <a:solidFill>
                  <a:schemeClr val="lt1"/>
                </a:solidFill>
              </a:rPr>
              <a:t>Update-Database</a:t>
            </a:r>
            <a:endParaRPr lang="es-PE" sz="2000" dirty="0"/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chemeClr val="lt1"/>
                </a:solidFill>
              </a:rPr>
              <a:t>SQL Server</a:t>
            </a:r>
            <a:endParaRPr lang="es-PE" sz="1400" dirty="0"/>
          </a:p>
        </p:txBody>
      </p:sp>
      <p:sp>
        <p:nvSpPr>
          <p:cNvPr id="18" name="Texto 18"/>
          <p:cNvSpPr txBox="1"/>
          <p:nvPr/>
        </p:nvSpPr>
        <p:spPr>
          <a:xfrm>
            <a:off x="411480" y="3931920"/>
            <a:ext cx="7406640" cy="81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dirty="0">
                <a:solidFill>
                  <a:schemeClr val="dk1"/>
                </a:solidFill>
              </a:rPr>
              <a:t>Una migración es un archivo de C# que describe un cambio en el esquema de la base de datos.</a:t>
            </a:r>
            <a:endParaRPr lang="es-PE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Migraciones</a:t>
            </a:r>
          </a:p>
        </p:txBody>
      </p:sp>
      <p:sp>
        <p:nvSpPr>
          <p:cNvPr id="12" name="Contenido 12"/>
          <p:cNvSpPr txBox="1"/>
          <p:nvPr/>
        </p:nvSpPr>
        <p:spPr>
          <a:xfrm>
            <a:off x="411480" y="1783080"/>
            <a:ext cx="7406640" cy="4434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2600" b="1" dirty="0">
                <a:solidFill>
                  <a:schemeClr val="dk1"/>
                </a:solidFill>
              </a:rPr>
              <a:t>Definición</a:t>
            </a:r>
            <a:endParaRPr lang="es-PE" sz="2600" dirty="0"/>
          </a:p>
          <a:p>
            <a:pPr marL="7315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–"/>
            </a:pPr>
            <a:r>
              <a:rPr lang="es-PE" sz="2000" dirty="0">
                <a:solidFill>
                  <a:schemeClr val="dk1"/>
                </a:solidFill>
              </a:rPr>
              <a:t>Una migración registra un cambio del modelo y sabe aplicarlo (Up) y revertirlo (Down) en la base de datos.</a:t>
            </a:r>
            <a:endParaRPr lang="es-PE" sz="2000" dirty="0"/>
          </a:p>
          <a:p>
            <a:pPr marL="274320" indent="-27432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2600" b="1" dirty="0">
                <a:solidFill>
                  <a:schemeClr val="dk1"/>
                </a:solidFill>
              </a:rPr>
              <a:t>¿Por qué usarlas?</a:t>
            </a:r>
            <a:endParaRPr lang="es-PE" sz="2600" dirty="0"/>
          </a:p>
          <a:p>
            <a:pPr marL="731520" indent="-27432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–"/>
            </a:pPr>
            <a:r>
              <a:rPr lang="es-PE" sz="2000" dirty="0">
                <a:solidFill>
                  <a:schemeClr val="dk1"/>
                </a:solidFill>
              </a:rPr>
              <a:t>Versionan el esquema junto al código</a:t>
            </a:r>
            <a:endParaRPr lang="es-PE" sz="2000" dirty="0"/>
          </a:p>
          <a:p>
            <a:pPr marL="731520" indent="-27432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–"/>
            </a:pPr>
            <a:r>
              <a:rPr lang="es-PE" sz="2000" dirty="0">
                <a:solidFill>
                  <a:schemeClr val="dk1"/>
                </a:solidFill>
              </a:rPr>
              <a:t>Actualizan la base sin perder datos</a:t>
            </a:r>
            <a:endParaRPr lang="es-PE" sz="2000" dirty="0"/>
          </a:p>
          <a:p>
            <a:pPr marL="731520" indent="-27432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–"/>
            </a:pPr>
            <a:r>
              <a:rPr lang="es-PE" sz="2000" dirty="0">
                <a:solidFill>
                  <a:schemeClr val="dk1"/>
                </a:solidFill>
              </a:rPr>
              <a:t>Todo el equipo aplica los mismos cambios</a:t>
            </a:r>
            <a:endParaRPr lang="es-PE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Crear la primera migración</a:t>
            </a:r>
          </a:p>
        </p:txBody>
      </p:sp>
      <p:sp>
        <p:nvSpPr>
          <p:cNvPr id="12" name="Tarjeta de código 12"/>
          <p:cNvSpPr/>
          <p:nvPr/>
        </p:nvSpPr>
        <p:spPr>
          <a:xfrm>
            <a:off x="411480" y="1783080"/>
            <a:ext cx="7406640" cy="67360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Punto 13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4" name="Punto 14"/>
          <p:cNvSpPr/>
          <p:nvPr/>
        </p:nvSpPr>
        <p:spPr>
          <a:xfrm>
            <a:off x="731520" y="18836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Punto 15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Archivo 16"/>
          <p:cNvSpPr txBox="1"/>
          <p:nvPr/>
        </p:nvSpPr>
        <p:spPr>
          <a:xfrm>
            <a:off x="1143000" y="1819656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Consola del Administrador de paquetes</a:t>
            </a:r>
            <a:endParaRPr lang="es-PE" sz="1100" dirty="0"/>
          </a:p>
        </p:txBody>
      </p:sp>
      <p:sp>
        <p:nvSpPr>
          <p:cNvPr id="17" name="Código 17"/>
          <p:cNvSpPr txBox="1"/>
          <p:nvPr/>
        </p:nvSpPr>
        <p:spPr>
          <a:xfrm>
            <a:off x="502920" y="2093976"/>
            <a:ext cx="7223760" cy="3627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Add-Migration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InitialCreate</a:t>
            </a:r>
            <a:endParaRPr lang="es-PE" sz="1600" dirty="0"/>
          </a:p>
        </p:txBody>
      </p:sp>
      <p:sp>
        <p:nvSpPr>
          <p:cNvPr id="18" name="Tarjeta de código 18"/>
          <p:cNvSpPr/>
          <p:nvPr/>
        </p:nvSpPr>
        <p:spPr>
          <a:xfrm>
            <a:off x="411480" y="2566688"/>
            <a:ext cx="7406640" cy="67360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9" name="Punto 19"/>
          <p:cNvSpPr/>
          <p:nvPr/>
        </p:nvSpPr>
        <p:spPr>
          <a:xfrm>
            <a:off x="548640" y="2667272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0" name="Punto 20"/>
          <p:cNvSpPr/>
          <p:nvPr/>
        </p:nvSpPr>
        <p:spPr>
          <a:xfrm>
            <a:off x="731520" y="266727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1" name="Punto 21"/>
          <p:cNvSpPr/>
          <p:nvPr/>
        </p:nvSpPr>
        <p:spPr>
          <a:xfrm>
            <a:off x="914400" y="2667272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2" name="Archivo 22"/>
          <p:cNvSpPr txBox="1"/>
          <p:nvPr/>
        </p:nvSpPr>
        <p:spPr>
          <a:xfrm>
            <a:off x="1143000" y="2603264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O desde la terminal</a:t>
            </a:r>
            <a:endParaRPr lang="es-PE" sz="1100" dirty="0"/>
          </a:p>
        </p:txBody>
      </p:sp>
      <p:sp>
        <p:nvSpPr>
          <p:cNvPr id="23" name="Código 23"/>
          <p:cNvSpPr txBox="1"/>
          <p:nvPr/>
        </p:nvSpPr>
        <p:spPr>
          <a:xfrm>
            <a:off x="502920" y="2877584"/>
            <a:ext cx="7223760" cy="3627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dotnet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ef migrations add InitialCreate</a:t>
            </a:r>
            <a:endParaRPr lang="es-PE" sz="1600" dirty="0"/>
          </a:p>
        </p:txBody>
      </p:sp>
      <p:sp>
        <p:nvSpPr>
          <p:cNvPr id="24" name="Texto 24"/>
          <p:cNvSpPr txBox="1"/>
          <p:nvPr/>
        </p:nvSpPr>
        <p:spPr>
          <a:xfrm>
            <a:off x="411480" y="3350296"/>
            <a:ext cx="7406640" cy="691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>
                <a:solidFill>
                  <a:schemeClr val="dk1"/>
                </a:solidFill>
              </a:rPr>
              <a:t>Add-Migration compara el modelo con el último estado y genera el archivo. Todavía no modifica la base de datos.</a:t>
            </a:r>
            <a:endParaRPr lang="es-PE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genera Add-Migration</a:t>
            </a:r>
          </a:p>
        </p:txBody>
      </p:sp>
      <p:sp>
        <p:nvSpPr>
          <p:cNvPr id="12" name="Tarjeta de código 12"/>
          <p:cNvSpPr/>
          <p:nvPr/>
        </p:nvSpPr>
        <p:spPr>
          <a:xfrm>
            <a:off x="411480" y="1783080"/>
            <a:ext cx="7406640" cy="122224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Punto 13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4" name="Punto 14"/>
          <p:cNvSpPr/>
          <p:nvPr/>
        </p:nvSpPr>
        <p:spPr>
          <a:xfrm>
            <a:off x="731520" y="18836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Punto 15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Archivo 16"/>
          <p:cNvSpPr txBox="1"/>
          <p:nvPr/>
        </p:nvSpPr>
        <p:spPr>
          <a:xfrm>
            <a:off x="1143000" y="1819656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Proyecto</a:t>
            </a:r>
            <a:endParaRPr lang="es-PE" sz="1100" dirty="0"/>
          </a:p>
        </p:txBody>
      </p:sp>
      <p:sp>
        <p:nvSpPr>
          <p:cNvPr id="17" name="Código 17"/>
          <p:cNvSpPr txBox="1"/>
          <p:nvPr/>
        </p:nvSpPr>
        <p:spPr>
          <a:xfrm>
            <a:off x="502920" y="2093976"/>
            <a:ext cx="7223760" cy="91135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Migrations/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├── 20261103153012_InitialCreate.cs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├── 20261103153012_InitialCreate.Designer.cs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└── BibliotecaContextModelSnapshot.cs</a:t>
            </a:r>
            <a:endParaRPr lang="es-PE" sz="1300" dirty="0"/>
          </a:p>
        </p:txBody>
      </p:sp>
      <p:sp>
        <p:nvSpPr>
          <p:cNvPr id="18" name="Contenido 18"/>
          <p:cNvSpPr txBox="1"/>
          <p:nvPr/>
        </p:nvSpPr>
        <p:spPr>
          <a:xfrm>
            <a:off x="411480" y="3115328"/>
            <a:ext cx="7406640" cy="13158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600" b="1" dirty="0">
                <a:solidFill>
                  <a:schemeClr val="dk1"/>
                </a:solidFill>
              </a:rPr>
              <a:t>InitialCreate.cs:</a:t>
            </a:r>
            <a:r>
              <a:rPr lang="es-PE" sz="1600" dirty="0">
                <a:solidFill>
                  <a:schemeClr val="dk1"/>
                </a:solidFill>
              </a:rPr>
              <a:t> métodos Up() y Down()</a:t>
            </a:r>
            <a:endParaRPr lang="es-PE" sz="1600" dirty="0"/>
          </a:p>
          <a:p>
            <a:pPr marL="274320" indent="-27432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600" b="1" dirty="0">
                <a:solidFill>
                  <a:schemeClr val="dk1"/>
                </a:solidFill>
              </a:rPr>
              <a:t>Designer.cs:</a:t>
            </a:r>
            <a:r>
              <a:rPr lang="es-PE" sz="1600" dirty="0">
                <a:solidFill>
                  <a:schemeClr val="dk1"/>
                </a:solidFill>
              </a:rPr>
              <a:t> metadatos del modelo en ese momento</a:t>
            </a:r>
            <a:endParaRPr lang="es-PE" sz="1600" dirty="0"/>
          </a:p>
          <a:p>
            <a:pPr marL="274320" indent="-27432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600" b="1" dirty="0">
                <a:solidFill>
                  <a:schemeClr val="dk1"/>
                </a:solidFill>
              </a:rPr>
              <a:t>ModelSnapshot:</a:t>
            </a:r>
            <a:r>
              <a:rPr lang="es-PE" sz="1600" dirty="0">
                <a:solidFill>
                  <a:schemeClr val="dk1"/>
                </a:solidFill>
              </a:rPr>
              <a:t> foto del modelo actual; se actualiza en cada migración</a:t>
            </a:r>
            <a:endParaRPr lang="es-PE" sz="1600" dirty="0"/>
          </a:p>
        </p:txBody>
      </p:sp>
      <p:sp>
        <p:nvSpPr>
          <p:cNvPr id="19" name="Importante 19"/>
          <p:cNvSpPr/>
          <p:nvPr/>
        </p:nvSpPr>
        <p:spPr>
          <a:xfrm>
            <a:off x="411480" y="4561188"/>
            <a:ext cx="7406640" cy="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137160" tIns="73152" rIns="137160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</a:rPr>
              <a:t>Importante:</a:t>
            </a:r>
            <a:r>
              <a:rPr lang="es-PE" sz="1600" dirty="0">
                <a:solidFill>
                  <a:schemeClr val="dk1"/>
                </a:solidFill>
              </a:rPr>
              <a:t> el nombre empieza con fecha y hora (aaaaMMddHHmmss). Ese texto es el MigrationId.</a:t>
            </a:r>
            <a:endParaRPr lang="es-PE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Archivo de migración</a:t>
            </a:r>
          </a:p>
        </p:txBody>
      </p:sp>
      <p:sp>
        <p:nvSpPr>
          <p:cNvPr id="12" name="Tarjeta de código 12"/>
          <p:cNvSpPr/>
          <p:nvPr/>
        </p:nvSpPr>
        <p:spPr>
          <a:xfrm>
            <a:off x="411480" y="1783080"/>
            <a:ext cx="7406640" cy="277672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Punto 13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4" name="Punto 14"/>
          <p:cNvSpPr/>
          <p:nvPr/>
        </p:nvSpPr>
        <p:spPr>
          <a:xfrm>
            <a:off x="731520" y="18836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Punto 15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Archivo 16"/>
          <p:cNvSpPr txBox="1"/>
          <p:nvPr/>
        </p:nvSpPr>
        <p:spPr>
          <a:xfrm>
            <a:off x="1143000" y="1819656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Migrations/..._InitialCreate.cs</a:t>
            </a:r>
            <a:endParaRPr lang="es-PE" sz="1100" dirty="0"/>
          </a:p>
        </p:txBody>
      </p:sp>
      <p:sp>
        <p:nvSpPr>
          <p:cNvPr id="17" name="Código 17"/>
          <p:cNvSpPr txBox="1"/>
          <p:nvPr/>
        </p:nvSpPr>
        <p:spPr>
          <a:xfrm>
            <a:off x="502920" y="2093976"/>
            <a:ext cx="7223760" cy="2465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protected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4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override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4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4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Up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PE" sz="14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MigrationBuilder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migrationBuilder)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migrationBuilder.</a:t>
            </a:r>
            <a:r>
              <a:rPr lang="es-PE" sz="14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CreateTable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(name: </a:t>
            </a:r>
            <a:r>
              <a:rPr lang="es-PE" sz="14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"Autores"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...);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migrationBuilder.</a:t>
            </a:r>
            <a:r>
              <a:rPr lang="es-PE" sz="14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CreateTable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(name: </a:t>
            </a:r>
            <a:r>
              <a:rPr lang="es-PE" sz="14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"Libros"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...);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protected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4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override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4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4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Down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PE" sz="14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MigrationBuilder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migrationBuilder)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migrationBuilder.</a:t>
            </a:r>
            <a:r>
              <a:rPr lang="es-PE" sz="14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DropTable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(name: </a:t>
            </a:r>
            <a:r>
              <a:rPr lang="es-PE" sz="14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"Libros"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migrationBuilder.</a:t>
            </a:r>
            <a:r>
              <a:rPr lang="es-PE" sz="14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DropTable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(name: </a:t>
            </a:r>
            <a:r>
              <a:rPr lang="es-PE" sz="14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"Autores"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s-PE" sz="1400" dirty="0"/>
          </a:p>
        </p:txBody>
      </p:sp>
      <p:sp>
        <p:nvSpPr>
          <p:cNvPr id="18" name="Texto 18"/>
          <p:cNvSpPr txBox="1"/>
          <p:nvPr/>
        </p:nvSpPr>
        <p:spPr>
          <a:xfrm>
            <a:off x="411480" y="4669808"/>
            <a:ext cx="7406640" cy="62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chemeClr val="dk1"/>
                </a:solidFill>
              </a:rPr>
              <a:t>Up() aplica el cambio y Down() lo deshace. EF Core escribe el archivo a partir de las diferencias del modelo.</a:t>
            </a:r>
            <a:endParaRPr lang="es-PE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Aplicar la migración</a:t>
            </a:r>
          </a:p>
        </p:txBody>
      </p:sp>
      <p:sp>
        <p:nvSpPr>
          <p:cNvPr id="12" name="Tarjeta de código 12"/>
          <p:cNvSpPr/>
          <p:nvPr/>
        </p:nvSpPr>
        <p:spPr>
          <a:xfrm>
            <a:off x="411480" y="1783080"/>
            <a:ext cx="7406640" cy="67360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Punto 13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4" name="Punto 14"/>
          <p:cNvSpPr/>
          <p:nvPr/>
        </p:nvSpPr>
        <p:spPr>
          <a:xfrm>
            <a:off x="731520" y="18836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Punto 15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Archivo 16"/>
          <p:cNvSpPr txBox="1"/>
          <p:nvPr/>
        </p:nvSpPr>
        <p:spPr>
          <a:xfrm>
            <a:off x="1143000" y="1819656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Consola del Administrador de paquetes</a:t>
            </a:r>
            <a:endParaRPr lang="es-PE" sz="1100" dirty="0"/>
          </a:p>
        </p:txBody>
      </p:sp>
      <p:sp>
        <p:nvSpPr>
          <p:cNvPr id="17" name="Código 17"/>
          <p:cNvSpPr txBox="1"/>
          <p:nvPr/>
        </p:nvSpPr>
        <p:spPr>
          <a:xfrm>
            <a:off x="502920" y="2093976"/>
            <a:ext cx="7223760" cy="3627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Update-Database</a:t>
            </a:r>
            <a:endParaRPr lang="es-PE" sz="1600" dirty="0"/>
          </a:p>
        </p:txBody>
      </p:sp>
      <p:sp>
        <p:nvSpPr>
          <p:cNvPr id="18" name="Tarjeta de código 18"/>
          <p:cNvSpPr/>
          <p:nvPr/>
        </p:nvSpPr>
        <p:spPr>
          <a:xfrm>
            <a:off x="411480" y="2566688"/>
            <a:ext cx="7406640" cy="67360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9" name="Punto 19"/>
          <p:cNvSpPr/>
          <p:nvPr/>
        </p:nvSpPr>
        <p:spPr>
          <a:xfrm>
            <a:off x="548640" y="2667272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0" name="Punto 20"/>
          <p:cNvSpPr/>
          <p:nvPr/>
        </p:nvSpPr>
        <p:spPr>
          <a:xfrm>
            <a:off x="731520" y="266727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1" name="Punto 21"/>
          <p:cNvSpPr/>
          <p:nvPr/>
        </p:nvSpPr>
        <p:spPr>
          <a:xfrm>
            <a:off x="914400" y="2667272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2" name="Archivo 22"/>
          <p:cNvSpPr txBox="1"/>
          <p:nvPr/>
        </p:nvSpPr>
        <p:spPr>
          <a:xfrm>
            <a:off x="1143000" y="2603264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O desde la terminal</a:t>
            </a:r>
            <a:endParaRPr lang="es-PE" sz="1100" dirty="0"/>
          </a:p>
        </p:txBody>
      </p:sp>
      <p:sp>
        <p:nvSpPr>
          <p:cNvPr id="23" name="Código 23"/>
          <p:cNvSpPr txBox="1"/>
          <p:nvPr/>
        </p:nvSpPr>
        <p:spPr>
          <a:xfrm>
            <a:off x="502920" y="2877584"/>
            <a:ext cx="7223760" cy="3627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dotnet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ef database update</a:t>
            </a:r>
            <a:endParaRPr lang="es-PE" sz="1600" dirty="0"/>
          </a:p>
        </p:txBody>
      </p:sp>
      <p:sp>
        <p:nvSpPr>
          <p:cNvPr id="24" name="Contenido 24"/>
          <p:cNvSpPr txBox="1"/>
          <p:nvPr/>
        </p:nvSpPr>
        <p:spPr>
          <a:xfrm>
            <a:off x="411480" y="3350296"/>
            <a:ext cx="7406640" cy="120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Crea la base de datos si no existe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Ejecuta Up() de las migraciones pendientes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Registra cada migración aplicada en __EFMigrationsHistory</a:t>
            </a:r>
            <a:endParaRPr lang="es-PE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Tabla __EFMigrationsHistory</a:t>
            </a:r>
          </a:p>
        </p:txBody>
      </p:sp>
      <p:sp>
        <p:nvSpPr>
          <p:cNvPr id="12" name="Tarjeta de código 12"/>
          <p:cNvSpPr/>
          <p:nvPr/>
        </p:nvSpPr>
        <p:spPr>
          <a:xfrm>
            <a:off x="411480" y="1783080"/>
            <a:ext cx="7406640" cy="88696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Punto 13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4" name="Punto 14"/>
          <p:cNvSpPr/>
          <p:nvPr/>
        </p:nvSpPr>
        <p:spPr>
          <a:xfrm>
            <a:off x="731520" y="18836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Punto 15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Archivo 16"/>
          <p:cNvSpPr txBox="1"/>
          <p:nvPr/>
        </p:nvSpPr>
        <p:spPr>
          <a:xfrm>
            <a:off x="1143000" y="1819656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SQL Server</a:t>
            </a:r>
            <a:endParaRPr lang="es-PE" sz="1100" dirty="0"/>
          </a:p>
        </p:txBody>
      </p:sp>
      <p:sp>
        <p:nvSpPr>
          <p:cNvPr id="17" name="Código 17"/>
          <p:cNvSpPr txBox="1"/>
          <p:nvPr/>
        </p:nvSpPr>
        <p:spPr>
          <a:xfrm>
            <a:off x="502920" y="2093976"/>
            <a:ext cx="7223760" cy="57607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MigrationId, ProductVersion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__EFMigrationsHistory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ORDER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BY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MigrationId;</a:t>
            </a:r>
            <a:endParaRPr lang="es-PE" sz="1500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11480" y="2780048"/>
          <a:ext cx="7406640" cy="107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6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MigrationId</a:t>
                      </a:r>
                    </a:p>
                  </a:txBody>
                  <a:tcPr marT="54864" marB="54864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ProductVersion</a:t>
                      </a:r>
                    </a:p>
                  </a:txBody>
                  <a:tcPr marT="54864" marB="54864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onsolas"/>
                        </a:rPr>
                        <a:t>20261103153012_InitialCreate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onsolas"/>
                        </a:rPr>
                        <a:t>9.0.0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onsolas"/>
                        </a:rPr>
                        <a:t>20261110160508_AgregarPaisAutor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onsolas"/>
                        </a:rPr>
                        <a:t>9.0.0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o 18"/>
          <p:cNvSpPr txBox="1"/>
          <p:nvPr/>
        </p:nvSpPr>
        <p:spPr>
          <a:xfrm>
            <a:off x="411480" y="3995848"/>
            <a:ext cx="7406640" cy="62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chemeClr val="dk1"/>
                </a:solidFill>
              </a:rPr>
              <a:t>Datos de ejemplo. EF Core compara esta tabla con la carpeta Migrations para saber qué falta aplicar: ambas deben coincidir.</a:t>
            </a:r>
            <a:endParaRPr lang="es-PE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Cambiar el modelo</a:t>
            </a:r>
          </a:p>
        </p:txBody>
      </p:sp>
      <p:sp>
        <p:nvSpPr>
          <p:cNvPr id="12" name="Fila 12"/>
          <p:cNvSpPr/>
          <p:nvPr/>
        </p:nvSpPr>
        <p:spPr>
          <a:xfrm>
            <a:off x="822960" y="1783080"/>
            <a:ext cx="6995160" cy="685800"/>
          </a:xfrm>
          <a:prstGeom prst="roundRect">
            <a:avLst>
              <a:gd name="adj" fmla="val 15000"/>
            </a:avLst>
          </a:prstGeom>
          <a:solidFill>
            <a:schemeClr val="lt2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Número 13"/>
          <p:cNvSpPr/>
          <p:nvPr/>
        </p:nvSpPr>
        <p:spPr>
          <a:xfrm>
            <a:off x="411480" y="1801368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b="1" dirty="0">
                <a:solidFill>
                  <a:schemeClr val="lt1"/>
                </a:solidFill>
              </a:rPr>
              <a:t>1</a:t>
            </a:r>
            <a:endParaRPr lang="es-PE" sz="2200" dirty="0"/>
          </a:p>
        </p:txBody>
      </p:sp>
      <p:sp>
        <p:nvSpPr>
          <p:cNvPr id="14" name="Paso 14"/>
          <p:cNvSpPr txBox="1"/>
          <p:nvPr/>
        </p:nvSpPr>
        <p:spPr>
          <a:xfrm>
            <a:off x="1234440" y="1783080"/>
            <a:ext cx="6492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dirty="0">
                <a:solidFill>
                  <a:schemeClr val="dk1"/>
                </a:solidFill>
              </a:rPr>
              <a:t>Modificar la clase (agregar Pais a Autor)</a:t>
            </a:r>
            <a:endParaRPr lang="es-PE" sz="2000" dirty="0"/>
          </a:p>
        </p:txBody>
      </p:sp>
      <p:sp>
        <p:nvSpPr>
          <p:cNvPr id="15" name="Fila 15"/>
          <p:cNvSpPr/>
          <p:nvPr/>
        </p:nvSpPr>
        <p:spPr>
          <a:xfrm>
            <a:off x="822960" y="2651760"/>
            <a:ext cx="6995160" cy="685800"/>
          </a:xfrm>
          <a:prstGeom prst="roundRect">
            <a:avLst>
              <a:gd name="adj" fmla="val 15000"/>
            </a:avLst>
          </a:prstGeom>
          <a:solidFill>
            <a:schemeClr val="lt2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Número 16"/>
          <p:cNvSpPr/>
          <p:nvPr/>
        </p:nvSpPr>
        <p:spPr>
          <a:xfrm>
            <a:off x="411480" y="2670048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b="1" dirty="0">
                <a:solidFill>
                  <a:schemeClr val="lt1"/>
                </a:solidFill>
              </a:rPr>
              <a:t>2</a:t>
            </a:r>
            <a:endParaRPr lang="es-PE" sz="2200" dirty="0"/>
          </a:p>
        </p:txBody>
      </p:sp>
      <p:sp>
        <p:nvSpPr>
          <p:cNvPr id="17" name="Paso 17"/>
          <p:cNvSpPr txBox="1"/>
          <p:nvPr/>
        </p:nvSpPr>
        <p:spPr>
          <a:xfrm>
            <a:off x="1234440" y="2651760"/>
            <a:ext cx="6492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dirty="0">
                <a:solidFill>
                  <a:schemeClr val="dk1"/>
                </a:solidFill>
              </a:rPr>
              <a:t>Add-Migration AgregarPaisAutor</a:t>
            </a:r>
            <a:endParaRPr lang="es-PE" sz="2000" dirty="0"/>
          </a:p>
        </p:txBody>
      </p:sp>
      <p:sp>
        <p:nvSpPr>
          <p:cNvPr id="18" name="Fila 18"/>
          <p:cNvSpPr/>
          <p:nvPr/>
        </p:nvSpPr>
        <p:spPr>
          <a:xfrm>
            <a:off x="822960" y="3520440"/>
            <a:ext cx="6995160" cy="685800"/>
          </a:xfrm>
          <a:prstGeom prst="roundRect">
            <a:avLst>
              <a:gd name="adj" fmla="val 15000"/>
            </a:avLst>
          </a:prstGeom>
          <a:solidFill>
            <a:schemeClr val="lt2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9" name="Número 19"/>
          <p:cNvSpPr/>
          <p:nvPr/>
        </p:nvSpPr>
        <p:spPr>
          <a:xfrm>
            <a:off x="411480" y="3538728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b="1" dirty="0">
                <a:solidFill>
                  <a:schemeClr val="lt1"/>
                </a:solidFill>
              </a:rPr>
              <a:t>3</a:t>
            </a:r>
            <a:endParaRPr lang="es-PE" sz="2200" dirty="0"/>
          </a:p>
        </p:txBody>
      </p:sp>
      <p:sp>
        <p:nvSpPr>
          <p:cNvPr id="20" name="Paso 20"/>
          <p:cNvSpPr txBox="1"/>
          <p:nvPr/>
        </p:nvSpPr>
        <p:spPr>
          <a:xfrm>
            <a:off x="1234440" y="3520440"/>
            <a:ext cx="6492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dirty="0">
                <a:solidFill>
                  <a:schemeClr val="dk1"/>
                </a:solidFill>
              </a:rPr>
              <a:t>Revisar el archivo generado</a:t>
            </a:r>
            <a:endParaRPr lang="es-PE" sz="2000" dirty="0"/>
          </a:p>
        </p:txBody>
      </p:sp>
      <p:sp>
        <p:nvSpPr>
          <p:cNvPr id="21" name="Fila 21"/>
          <p:cNvSpPr/>
          <p:nvPr/>
        </p:nvSpPr>
        <p:spPr>
          <a:xfrm>
            <a:off x="822960" y="4389120"/>
            <a:ext cx="6995160" cy="685800"/>
          </a:xfrm>
          <a:prstGeom prst="roundRect">
            <a:avLst>
              <a:gd name="adj" fmla="val 15000"/>
            </a:avLst>
          </a:prstGeom>
          <a:solidFill>
            <a:schemeClr val="lt2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2" name="Número 22"/>
          <p:cNvSpPr/>
          <p:nvPr/>
        </p:nvSpPr>
        <p:spPr>
          <a:xfrm>
            <a:off x="411480" y="4407408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b="1" dirty="0">
                <a:solidFill>
                  <a:schemeClr val="lt1"/>
                </a:solidFill>
              </a:rPr>
              <a:t>4</a:t>
            </a:r>
            <a:endParaRPr lang="es-PE" sz="2200" dirty="0"/>
          </a:p>
        </p:txBody>
      </p:sp>
      <p:sp>
        <p:nvSpPr>
          <p:cNvPr id="23" name="Paso 23"/>
          <p:cNvSpPr txBox="1"/>
          <p:nvPr/>
        </p:nvSpPr>
        <p:spPr>
          <a:xfrm>
            <a:off x="1234440" y="4389120"/>
            <a:ext cx="6492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dirty="0">
                <a:solidFill>
                  <a:schemeClr val="dk1"/>
                </a:solidFill>
              </a:rPr>
              <a:t>Update-Database</a:t>
            </a:r>
            <a:endParaRPr lang="es-PE" sz="2000" dirty="0"/>
          </a:p>
        </p:txBody>
      </p:sp>
      <p:sp>
        <p:nvSpPr>
          <p:cNvPr id="24" name="Texto 24"/>
          <p:cNvSpPr txBox="1"/>
          <p:nvPr/>
        </p:nvSpPr>
        <p:spPr>
          <a:xfrm>
            <a:off x="411480" y="5317800"/>
            <a:ext cx="7406640" cy="4057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>
                <a:solidFill>
                  <a:schemeClr val="dk1"/>
                </a:solidFill>
              </a:rPr>
              <a:t>Cada cambio del modelo se convierte en una migración nueva.</a:t>
            </a:r>
            <a:endParaRPr lang="es-PE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Segunda migración</a:t>
            </a:r>
          </a:p>
        </p:txBody>
      </p:sp>
      <p:sp>
        <p:nvSpPr>
          <p:cNvPr id="12" name="Tarjeta de código 12"/>
          <p:cNvSpPr/>
          <p:nvPr/>
        </p:nvSpPr>
        <p:spPr>
          <a:xfrm>
            <a:off x="411480" y="1783080"/>
            <a:ext cx="7406640" cy="88696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Punto 13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4" name="Punto 14"/>
          <p:cNvSpPr/>
          <p:nvPr/>
        </p:nvSpPr>
        <p:spPr>
          <a:xfrm>
            <a:off x="731520" y="18836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Punto 15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Archivo 16"/>
          <p:cNvSpPr txBox="1"/>
          <p:nvPr/>
        </p:nvSpPr>
        <p:spPr>
          <a:xfrm>
            <a:off x="1143000" y="1819656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Models/Autor.cs</a:t>
            </a:r>
            <a:endParaRPr lang="es-PE" sz="1100" dirty="0"/>
          </a:p>
        </p:txBody>
      </p:sp>
      <p:sp>
        <p:nvSpPr>
          <p:cNvPr id="17" name="Código 17"/>
          <p:cNvSpPr txBox="1"/>
          <p:nvPr/>
        </p:nvSpPr>
        <p:spPr>
          <a:xfrm>
            <a:off x="502920" y="2093976"/>
            <a:ext cx="7223760" cy="57607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StringLength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PE" sz="15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)]</a:t>
            </a:r>
            <a:endParaRPr lang="es-PE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? </a:t>
            </a:r>
            <a:r>
              <a:rPr lang="es-PE" sz="15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Pais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PE" sz="15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PE" sz="15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lang="es-PE" sz="1500" dirty="0"/>
          </a:p>
        </p:txBody>
      </p:sp>
      <p:sp>
        <p:nvSpPr>
          <p:cNvPr id="18" name="Tarjeta de código 18"/>
          <p:cNvSpPr/>
          <p:nvPr/>
        </p:nvSpPr>
        <p:spPr>
          <a:xfrm>
            <a:off x="411480" y="2780048"/>
            <a:ext cx="7406640" cy="170992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9" name="Punto 19"/>
          <p:cNvSpPr/>
          <p:nvPr/>
        </p:nvSpPr>
        <p:spPr>
          <a:xfrm>
            <a:off x="548640" y="2880632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0" name="Punto 20"/>
          <p:cNvSpPr/>
          <p:nvPr/>
        </p:nvSpPr>
        <p:spPr>
          <a:xfrm>
            <a:off x="731520" y="288063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1" name="Punto 21"/>
          <p:cNvSpPr/>
          <p:nvPr/>
        </p:nvSpPr>
        <p:spPr>
          <a:xfrm>
            <a:off x="914400" y="2880632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2" name="Archivo 22"/>
          <p:cNvSpPr txBox="1"/>
          <p:nvPr/>
        </p:nvSpPr>
        <p:spPr>
          <a:xfrm>
            <a:off x="1143000" y="2816624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Migración generada (Up)</a:t>
            </a:r>
            <a:endParaRPr lang="es-PE" sz="1100" dirty="0"/>
          </a:p>
        </p:txBody>
      </p:sp>
      <p:sp>
        <p:nvSpPr>
          <p:cNvPr id="23" name="Código 23"/>
          <p:cNvSpPr txBox="1"/>
          <p:nvPr/>
        </p:nvSpPr>
        <p:spPr>
          <a:xfrm>
            <a:off x="502920" y="3090944"/>
            <a:ext cx="7223760" cy="139903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migrationBuilder.</a:t>
            </a:r>
            <a:r>
              <a:rPr lang="es-PE" sz="14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AddColumn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PE" sz="14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&gt;(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name: </a:t>
            </a:r>
            <a:r>
              <a:rPr lang="es-PE" sz="14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"Pais"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table: </a:t>
            </a:r>
            <a:r>
              <a:rPr lang="es-PE" sz="14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"Autores"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type: </a:t>
            </a:r>
            <a:r>
              <a:rPr lang="es-PE" sz="14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"nvarchar(50)"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maxLength: </a:t>
            </a:r>
            <a:r>
              <a:rPr lang="es-PE" sz="14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nullable: </a:t>
            </a:r>
            <a:r>
              <a:rPr lang="es-PE" sz="14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lang="es-PE" sz="1400" dirty="0"/>
          </a:p>
        </p:txBody>
      </p:sp>
      <p:sp>
        <p:nvSpPr>
          <p:cNvPr id="24" name="Texto 24"/>
          <p:cNvSpPr txBox="1"/>
          <p:nvPr/>
        </p:nvSpPr>
        <p:spPr>
          <a:xfrm>
            <a:off x="411480" y="4599976"/>
            <a:ext cx="7406640" cy="62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chemeClr val="dk1"/>
                </a:solidFill>
              </a:rPr>
              <a:t>Solo se genera lo que cambió: una columna nueva. Los datos existentes se conservan.</a:t>
            </a:r>
            <a:endParaRPr lang="es-PE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Columna obligatoria con datos</a:t>
            </a:r>
          </a:p>
        </p:txBody>
      </p:sp>
      <p:sp>
        <p:nvSpPr>
          <p:cNvPr id="12" name="Tarjeta de código 12"/>
          <p:cNvSpPr/>
          <p:nvPr/>
        </p:nvSpPr>
        <p:spPr>
          <a:xfrm>
            <a:off x="411480" y="1783080"/>
            <a:ext cx="7406640" cy="128320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Punto 13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4" name="Punto 14"/>
          <p:cNvSpPr/>
          <p:nvPr/>
        </p:nvSpPr>
        <p:spPr>
          <a:xfrm>
            <a:off x="731520" y="18836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Punto 15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Archivo 16"/>
          <p:cNvSpPr txBox="1"/>
          <p:nvPr/>
        </p:nvSpPr>
        <p:spPr>
          <a:xfrm>
            <a:off x="1143000" y="1819656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Generado para Libro.Idioma (obligatoria)</a:t>
            </a:r>
            <a:endParaRPr lang="es-PE" sz="1100" dirty="0"/>
          </a:p>
        </p:txBody>
      </p:sp>
      <p:sp>
        <p:nvSpPr>
          <p:cNvPr id="17" name="Código 17"/>
          <p:cNvSpPr txBox="1"/>
          <p:nvPr/>
        </p:nvSpPr>
        <p:spPr>
          <a:xfrm>
            <a:off x="502920" y="2093976"/>
            <a:ext cx="7223760" cy="9723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migrationBuilder.</a:t>
            </a:r>
            <a:r>
              <a:rPr lang="es-PE" sz="14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AddColumn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PE" sz="14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&gt;(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name: </a:t>
            </a:r>
            <a:r>
              <a:rPr lang="es-PE" sz="14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"Idioma"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table: </a:t>
            </a:r>
            <a:r>
              <a:rPr lang="es-PE" sz="14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"Libros"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type: </a:t>
            </a:r>
            <a:r>
              <a:rPr lang="es-PE" sz="14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"nvarchar(20)"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nullable: </a:t>
            </a:r>
            <a:r>
              <a:rPr lang="es-PE" sz="14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defaultValue: </a:t>
            </a:r>
            <a:r>
              <a:rPr lang="es-PE" sz="14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lang="es-PE" sz="1400" dirty="0"/>
          </a:p>
        </p:txBody>
      </p:sp>
      <p:sp>
        <p:nvSpPr>
          <p:cNvPr id="18" name="Tarjeta de código 18"/>
          <p:cNvSpPr/>
          <p:nvPr/>
        </p:nvSpPr>
        <p:spPr>
          <a:xfrm>
            <a:off x="411480" y="3176288"/>
            <a:ext cx="7406640" cy="128320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9" name="Punto 19"/>
          <p:cNvSpPr/>
          <p:nvPr/>
        </p:nvSpPr>
        <p:spPr>
          <a:xfrm>
            <a:off x="548640" y="3276872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0" name="Punto 20"/>
          <p:cNvSpPr/>
          <p:nvPr/>
        </p:nvSpPr>
        <p:spPr>
          <a:xfrm>
            <a:off x="731520" y="327687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1" name="Punto 21"/>
          <p:cNvSpPr/>
          <p:nvPr/>
        </p:nvSpPr>
        <p:spPr>
          <a:xfrm>
            <a:off x="914400" y="3276872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2" name="Archivo 22"/>
          <p:cNvSpPr txBox="1"/>
          <p:nvPr/>
        </p:nvSpPr>
        <p:spPr>
          <a:xfrm>
            <a:off x="1143000" y="3212864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Corregido antes de Update-Database</a:t>
            </a:r>
            <a:endParaRPr lang="es-PE" sz="1100" dirty="0"/>
          </a:p>
        </p:txBody>
      </p:sp>
      <p:sp>
        <p:nvSpPr>
          <p:cNvPr id="23" name="Código 23"/>
          <p:cNvSpPr txBox="1"/>
          <p:nvPr/>
        </p:nvSpPr>
        <p:spPr>
          <a:xfrm>
            <a:off x="502920" y="3487184"/>
            <a:ext cx="7223760" cy="9723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migrationBuilder.</a:t>
            </a:r>
            <a:r>
              <a:rPr lang="es-PE" sz="14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AddColumn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PE" sz="14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&gt;(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name: </a:t>
            </a:r>
            <a:r>
              <a:rPr lang="es-PE" sz="14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"Idioma"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table: </a:t>
            </a:r>
            <a:r>
              <a:rPr lang="es-PE" sz="14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"Libros"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type: </a:t>
            </a:r>
            <a:r>
              <a:rPr lang="es-PE" sz="14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"nvarchar(20)"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nullable: </a:t>
            </a:r>
            <a:r>
              <a:rPr lang="es-PE" sz="14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lang="es-PE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defaultValue: </a:t>
            </a:r>
            <a:r>
              <a:rPr lang="es-PE" sz="14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"Español"</a:t>
            </a:r>
            <a:r>
              <a:rPr lang="es-PE" sz="14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lang="es-PE" sz="1400" dirty="0"/>
          </a:p>
        </p:txBody>
      </p:sp>
      <p:sp>
        <p:nvSpPr>
          <p:cNvPr id="24" name="Texto 24"/>
          <p:cNvSpPr txBox="1"/>
          <p:nvPr/>
        </p:nvSpPr>
        <p:spPr>
          <a:xfrm>
            <a:off x="411480" y="4569496"/>
            <a:ext cx="7406640" cy="62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chemeClr val="dk1"/>
                </a:solidFill>
              </a:rPr>
              <a:t>Las filas existentes necesitan un valor para la nueva columna NOT NULL. EF Core propone "" y puedes cambiarlo antes de aplicar la migración.</a:t>
            </a:r>
            <a:endParaRPr lang="es-PE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Comandos de migraciones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783080"/>
          <a:ext cx="7406640" cy="256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Acción</a:t>
                      </a:r>
                    </a:p>
                  </a:txBody>
                  <a:tcPr marT="54864" marB="54864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Visual Studio</a:t>
                      </a:r>
                    </a:p>
                  </a:txBody>
                  <a:tcPr marT="54864" marB="54864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Terminal</a:t>
                      </a:r>
                    </a:p>
                  </a:txBody>
                  <a:tcPr marT="54864" marB="54864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</a:rPr>
                        <a:t>Crear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onsolas"/>
                        </a:rPr>
                        <a:t>Add-Migration &lt;Nombre&gt;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onsolas"/>
                        </a:rPr>
                        <a:t>dotnet ef migrations add &lt;Nombre&gt;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</a:rPr>
                        <a:t>Aplicar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onsolas"/>
                        </a:rPr>
                        <a:t>Update-Database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onsolas"/>
                        </a:rPr>
                        <a:t>dotnet ef database update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</a:rPr>
                        <a:t>Volver a una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onsolas"/>
                        </a:rPr>
                        <a:t>Update-Database &lt;Nombre&gt;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onsolas"/>
                        </a:rPr>
                        <a:t>dotnet ef database update &lt;Nombre&gt;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</a:rPr>
                        <a:t>Quitar la última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onsolas"/>
                        </a:rPr>
                        <a:t>Remove-Migration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onsolas"/>
                        </a:rPr>
                        <a:t>dotnet ef migrations remove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</a:rPr>
                        <a:t>Listar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onsolas"/>
                        </a:rPr>
                        <a:t>Get-Migration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onsolas"/>
                        </a:rPr>
                        <a:t>dotnet ef migrations list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Deshacer una migración</a:t>
            </a:r>
          </a:p>
        </p:txBody>
      </p:sp>
      <p:sp>
        <p:nvSpPr>
          <p:cNvPr id="12" name="Encabezado 12"/>
          <p:cNvSpPr/>
          <p:nvPr/>
        </p:nvSpPr>
        <p:spPr>
          <a:xfrm>
            <a:off x="411480" y="1783080"/>
            <a:ext cx="3611880" cy="594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b="1" dirty="0">
                <a:solidFill>
                  <a:schemeClr val="lt1"/>
                </a:solidFill>
              </a:rPr>
              <a:t>Aún no aplicada</a:t>
            </a:r>
            <a:endParaRPr lang="es-PE" sz="2000" dirty="0"/>
          </a:p>
        </p:txBody>
      </p:sp>
      <p:sp>
        <p:nvSpPr>
          <p:cNvPr id="13" name="Tarjeta 13"/>
          <p:cNvSpPr/>
          <p:nvPr/>
        </p:nvSpPr>
        <p:spPr>
          <a:xfrm>
            <a:off x="411480" y="2377440"/>
            <a:ext cx="3611880" cy="19202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137160" tIns="109728" rIns="137160" bIns="73152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Remove-Migration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Borra el archivo y actualiza el ModelSnapshot.</a:t>
            </a:r>
            <a:endParaRPr lang="es-PE" sz="1800" dirty="0"/>
          </a:p>
        </p:txBody>
      </p:sp>
      <p:sp>
        <p:nvSpPr>
          <p:cNvPr id="14" name="Encabezado 14"/>
          <p:cNvSpPr/>
          <p:nvPr/>
        </p:nvSpPr>
        <p:spPr>
          <a:xfrm>
            <a:off x="4206240" y="1783080"/>
            <a:ext cx="3611880" cy="5943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b="1" dirty="0">
                <a:solidFill>
                  <a:schemeClr val="lt1"/>
                </a:solidFill>
              </a:rPr>
              <a:t>Ya aplicada</a:t>
            </a:r>
            <a:endParaRPr lang="es-PE" sz="2000" dirty="0"/>
          </a:p>
        </p:txBody>
      </p:sp>
      <p:sp>
        <p:nvSpPr>
          <p:cNvPr id="15" name="Tarjeta 15"/>
          <p:cNvSpPr/>
          <p:nvPr/>
        </p:nvSpPr>
        <p:spPr>
          <a:xfrm>
            <a:off x="4206240" y="2377440"/>
            <a:ext cx="3611880" cy="19202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137160" tIns="109728" rIns="137160" bIns="73152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Update-Database &lt;MigraciónAnterior&gt; (ejecuta Down).</a:t>
            </a:r>
            <a:endParaRPr lang="es-PE" sz="1800" dirty="0"/>
          </a:p>
          <a:p>
            <a:pPr marL="274320" indent="-27432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1800" dirty="0">
                <a:solidFill>
                  <a:schemeClr val="dk1"/>
                </a:solidFill>
              </a:rPr>
              <a:t>Luego Remove-Migration.</a:t>
            </a:r>
            <a:endParaRPr lang="es-PE" sz="1800" dirty="0"/>
          </a:p>
        </p:txBody>
      </p:sp>
      <p:sp>
        <p:nvSpPr>
          <p:cNvPr id="16" name="Importante 16"/>
          <p:cNvSpPr/>
          <p:nvPr/>
        </p:nvSpPr>
        <p:spPr>
          <a:xfrm>
            <a:off x="411480" y="4427680"/>
            <a:ext cx="7406640" cy="9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137160" tIns="73152" rIns="137160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</a:rPr>
              <a:t>Importante:</a:t>
            </a:r>
            <a:r>
              <a:rPr lang="es-PE" sz="1600" dirty="0">
                <a:solidFill>
                  <a:schemeClr val="dk1"/>
                </a:solidFill>
              </a:rPr>
              <a:t> no borres archivos de Migrations a mano; la tabla __EFMigrationsHistory y la carpeta dejarían de coincidir.</a:t>
            </a:r>
            <a:endParaRPr lang="es-PE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Buenas prácticas con migraciones</a:t>
            </a:r>
          </a:p>
        </p:txBody>
      </p:sp>
      <p:sp>
        <p:nvSpPr>
          <p:cNvPr id="12" name="Contenido 12"/>
          <p:cNvSpPr txBox="1"/>
          <p:nvPr/>
        </p:nvSpPr>
        <p:spPr>
          <a:xfrm>
            <a:off x="411480" y="1783080"/>
            <a:ext cx="7406640" cy="304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2000" dirty="0">
                <a:solidFill>
                  <a:schemeClr val="dk1"/>
                </a:solidFill>
              </a:rPr>
              <a:t>Una migración por cada cambio, con un nombre descriptivo.</a:t>
            </a:r>
            <a:endParaRPr lang="es-PE" sz="2000" dirty="0"/>
          </a:p>
          <a:p>
            <a:pPr marL="274320" indent="-2743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2000" dirty="0">
                <a:solidFill>
                  <a:schemeClr val="dk1"/>
                </a:solidFill>
              </a:rPr>
              <a:t>Revisa el archivo generado antes de aplicarlo.</a:t>
            </a:r>
            <a:endParaRPr lang="es-PE" sz="2000" dirty="0"/>
          </a:p>
          <a:p>
            <a:pPr marL="274320" indent="-2743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2000" dirty="0">
                <a:solidFill>
                  <a:schemeClr val="dk1"/>
                </a:solidFill>
              </a:rPr>
              <a:t>No edites una migración ya aplicada: crea otra.</a:t>
            </a:r>
            <a:endParaRPr lang="es-PE" sz="2000" dirty="0"/>
          </a:p>
          <a:p>
            <a:pPr marL="274320" indent="-2743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2000" dirty="0">
                <a:solidFill>
                  <a:schemeClr val="dk1"/>
                </a:solidFill>
              </a:rPr>
              <a:t>No cambies la base de datos con SQL a mano.</a:t>
            </a:r>
            <a:endParaRPr lang="es-PE" sz="2000" dirty="0"/>
          </a:p>
          <a:p>
            <a:pPr marL="274320" indent="-2743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2000" dirty="0">
                <a:solidFill>
                  <a:schemeClr val="dk1"/>
                </a:solidFill>
              </a:rPr>
              <a:t>Guarda la carpeta Migrations en el repositorio.</a:t>
            </a:r>
            <a:endParaRPr lang="es-PE" sz="2000" dirty="0"/>
          </a:p>
          <a:p>
            <a:pPr marL="274320" indent="-2743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rgbClr r="0" g="0" b="0"/>
              </a:buClr>
              <a:buFont typeface="Arial"/>
              <a:buChar char="•"/>
            </a:pPr>
            <a:r>
              <a:rPr lang="es-PE" sz="2000" dirty="0">
                <a:solidFill>
                  <a:schemeClr val="dk1"/>
                </a:solidFill>
              </a:rPr>
              <a:t>No uses EnsureCreated junto con migraciones.</a:t>
            </a:r>
            <a:endParaRPr lang="es-PE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Datos iniciales</a:t>
            </a:r>
          </a:p>
        </p:txBody>
      </p:sp>
      <p:sp>
        <p:nvSpPr>
          <p:cNvPr id="12" name="Tarjeta de código 12"/>
          <p:cNvSpPr/>
          <p:nvPr/>
        </p:nvSpPr>
        <p:spPr>
          <a:xfrm>
            <a:off x="411480" y="1783080"/>
            <a:ext cx="7406640" cy="300532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Punto 13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4" name="Punto 14"/>
          <p:cNvSpPr/>
          <p:nvPr/>
        </p:nvSpPr>
        <p:spPr>
          <a:xfrm>
            <a:off x="731520" y="18836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Punto 15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Archivo 16"/>
          <p:cNvSpPr txBox="1"/>
          <p:nvPr/>
        </p:nvSpPr>
        <p:spPr>
          <a:xfrm>
            <a:off x="1143000" y="1819656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Program.cs</a:t>
            </a:r>
            <a:endParaRPr lang="es-PE" sz="1100" dirty="0"/>
          </a:p>
        </p:txBody>
      </p:sp>
      <p:sp>
        <p:nvSpPr>
          <p:cNvPr id="17" name="Código 17"/>
          <p:cNvSpPr txBox="1"/>
          <p:nvPr/>
        </p:nvSpPr>
        <p:spPr>
          <a:xfrm>
            <a:off x="502920" y="2093976"/>
            <a:ext cx="7223760" cy="269443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PE" sz="13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scope = app.</a:t>
            </a:r>
            <a:r>
              <a:rPr lang="es-PE" sz="13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Services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PE" sz="13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CreateScope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())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3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db = scope.</a:t>
            </a:r>
            <a:r>
              <a:rPr lang="es-PE" sz="13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ServiceProvider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.</a:t>
            </a:r>
            <a:r>
              <a:rPr lang="es-PE" sz="13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GetRequiredService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PE" sz="13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BibliotecaContext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&gt;();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3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(!</a:t>
            </a:r>
            <a:r>
              <a:rPr lang="es-PE" sz="13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db.</a:t>
            </a:r>
            <a:r>
              <a:rPr lang="es-PE" sz="13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Autores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PE" sz="13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AnyAsync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())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db.</a:t>
            </a:r>
            <a:r>
              <a:rPr lang="es-PE" sz="13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Autores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PE" sz="13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AddRange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s-PE" sz="13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3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Autor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3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PE" sz="13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"Mario Vargas Llosa"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},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s-PE" sz="13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PE" sz="13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Autor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PE" sz="130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PE" sz="1300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"Ciro Alegría"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});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PE" sz="13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db.</a:t>
            </a:r>
            <a:r>
              <a:rPr lang="es-PE" sz="13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SaveChangesAsync</a:t>
            </a: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lang="es-PE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s-PE" sz="1300" dirty="0"/>
          </a:p>
        </p:txBody>
      </p:sp>
      <p:sp>
        <p:nvSpPr>
          <p:cNvPr id="18" name="Texto 18"/>
          <p:cNvSpPr txBox="1"/>
          <p:nvPr/>
        </p:nvSpPr>
        <p:spPr>
          <a:xfrm>
            <a:off x="411480" y="4898408"/>
            <a:ext cx="7406640" cy="62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chemeClr val="dk1"/>
                </a:solidFill>
              </a:rPr>
              <a:t>Se ejecuta al iniciar la aplicación y solo inserta si la tabla está vacía. Aplica antes Update-Database para que la base exista.</a:t>
            </a:r>
            <a:endParaRPr lang="es-PE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Consultas: igual que antes</a:t>
            </a:r>
          </a:p>
        </p:txBody>
      </p:sp>
      <p:sp>
        <p:nvSpPr>
          <p:cNvPr id="12" name="Tarjeta de código 12"/>
          <p:cNvSpPr/>
          <p:nvPr/>
        </p:nvSpPr>
        <p:spPr>
          <a:xfrm>
            <a:off x="411480" y="1783080"/>
            <a:ext cx="7406640" cy="164896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Punto 13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4" name="Punto 14"/>
          <p:cNvSpPr/>
          <p:nvPr/>
        </p:nvSpPr>
        <p:spPr>
          <a:xfrm>
            <a:off x="731520" y="18836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Punto 15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Archivo 16"/>
          <p:cNvSpPr txBox="1"/>
          <p:nvPr/>
        </p:nvSpPr>
        <p:spPr>
          <a:xfrm>
            <a:off x="1143000" y="1819656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Controllers/LibrosController.cs</a:t>
            </a:r>
            <a:endParaRPr lang="es-PE" sz="1100" dirty="0"/>
          </a:p>
        </p:txBody>
      </p:sp>
      <p:sp>
        <p:nvSpPr>
          <p:cNvPr id="17" name="Código 17"/>
          <p:cNvSpPr txBox="1"/>
          <p:nvPr/>
        </p:nvSpPr>
        <p:spPr>
          <a:xfrm>
            <a:off x="502920" y="2093976"/>
            <a:ext cx="7223760" cy="133807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libros =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_context.</a:t>
            </a:r>
            <a:r>
              <a:rPr lang="es-PE" sz="16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Libros</a:t>
            </a:r>
            <a:endParaRPr lang="es-PE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.</a:t>
            </a:r>
            <a:r>
              <a:rPr lang="es-PE" sz="16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Include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(l =&gt; l.</a:t>
            </a:r>
            <a:r>
              <a:rPr lang="es-PE" sz="16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Autor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lang="es-PE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.</a:t>
            </a:r>
            <a:r>
              <a:rPr lang="es-PE" sz="16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AsNoTracking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lang="es-PE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.</a:t>
            </a:r>
            <a:r>
              <a:rPr lang="es-PE" sz="16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OrderBy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(l =&gt; l.</a:t>
            </a:r>
            <a:r>
              <a:rPr lang="es-PE" sz="16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Titulo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lang="es-PE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.</a:t>
            </a:r>
            <a:r>
              <a:rPr lang="es-PE" sz="16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ToListAsync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lang="es-PE" sz="1600" dirty="0"/>
          </a:p>
        </p:txBody>
      </p:sp>
      <p:sp>
        <p:nvSpPr>
          <p:cNvPr id="18" name="Texto 18"/>
          <p:cNvSpPr txBox="1"/>
          <p:nvPr/>
        </p:nvSpPr>
        <p:spPr>
          <a:xfrm>
            <a:off x="411480" y="3542048"/>
            <a:ext cx="7406640" cy="62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chemeClr val="dk1"/>
                </a:solidFill>
              </a:rPr>
              <a:t>LINQ y SaveChanges funcionan igual que en Database First. La navegación se llama como tú la definiste (Autor), no IdAutorNavigation.</a:t>
            </a:r>
            <a:endParaRPr lang="es-PE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Eliminación lógica</a:t>
            </a:r>
          </a:p>
        </p:txBody>
      </p:sp>
      <p:sp>
        <p:nvSpPr>
          <p:cNvPr id="12" name="Tarjeta de código 12"/>
          <p:cNvSpPr/>
          <p:nvPr/>
        </p:nvSpPr>
        <p:spPr>
          <a:xfrm>
            <a:off x="411480" y="1783080"/>
            <a:ext cx="7406640" cy="1892808"/>
          </a:xfrm>
          <a:prstGeom prst="roundRect">
            <a:avLst>
              <a:gd name="adj" fmla="val 35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Punto 13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4" name="Punto 14"/>
          <p:cNvSpPr/>
          <p:nvPr/>
        </p:nvSpPr>
        <p:spPr>
          <a:xfrm>
            <a:off x="731520" y="18836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5" name="Punto 15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Archivo 16"/>
          <p:cNvSpPr txBox="1"/>
          <p:nvPr/>
        </p:nvSpPr>
        <p:spPr>
          <a:xfrm>
            <a:off x="1143000" y="1819656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rgbClr val="9DA5B4"/>
                </a:solidFill>
                <a:latin typeface="Consolas"/>
                <a:ea typeface="Consolas"/>
                <a:cs typeface="Consolas"/>
                <a:sym typeface="Consolas"/>
              </a:rPr>
              <a:t>Controllers/LibrosController.cs</a:t>
            </a:r>
            <a:endParaRPr lang="es-PE" sz="1100" dirty="0"/>
          </a:p>
        </p:txBody>
      </p:sp>
      <p:sp>
        <p:nvSpPr>
          <p:cNvPr id="17" name="Código 17"/>
          <p:cNvSpPr txBox="1"/>
          <p:nvPr/>
        </p:nvSpPr>
        <p:spPr>
          <a:xfrm>
            <a:off x="502920" y="2093976"/>
            <a:ext cx="7223760" cy="15819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libro =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_context.</a:t>
            </a:r>
            <a:r>
              <a:rPr lang="es-PE" sz="16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Libros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PE" sz="16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FindAsync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(id);</a:t>
            </a:r>
            <a:endParaRPr lang="es-PE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(libro !=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lang="es-PE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lang="es-PE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libro.</a:t>
            </a:r>
            <a:r>
              <a:rPr lang="es-PE" sz="16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Activo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s-PE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PE" sz="16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_context.</a:t>
            </a:r>
            <a:r>
              <a:rPr lang="es-PE" sz="16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SaveChangesAsync</a:t>
            </a: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lang="es-PE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s-PE" sz="1600" dirty="0"/>
          </a:p>
        </p:txBody>
      </p:sp>
      <p:sp>
        <p:nvSpPr>
          <p:cNvPr id="18" name="Texto 18"/>
          <p:cNvSpPr txBox="1"/>
          <p:nvPr/>
        </p:nvSpPr>
        <p:spPr>
          <a:xfrm>
            <a:off x="411480" y="3785888"/>
            <a:ext cx="7406640" cy="88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chemeClr val="dk1"/>
                </a:solidFill>
              </a:rPr>
              <a:t>Supone que Libro tiene la propiedad bool Activo. Agregarla al modelo requiere una migración nueva. Las consultas filtran con Where(l =&gt; l.Activo).</a:t>
            </a:r>
            <a:endParaRPr lang="es-PE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First y Code First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783080"/>
          <a:ext cx="7406640" cy="238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600">
                <a:tc>
                  <a:txBody>
                    <a:bodyPr/>
                    <a:lstStyle/>
                    <a:p>
                      <a:endParaRPr/>
                    </a:p>
                  </a:txBody>
                  <a:tcPr marT="54864" marB="54864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Database First</a:t>
                      </a:r>
                    </a:p>
                  </a:txBody>
                  <a:tcPr marT="54864" marB="54864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Code First</a:t>
                      </a:r>
                    </a:p>
                  </a:txBody>
                  <a:tcPr marT="54864" marB="54864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Punto de partida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Base de datos existente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Clases de C#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El modelo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Se genera con Scaffold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Se escribe a mano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La base de datos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Ya existe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Se crea con migraciones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Si algo cambia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Scaffold con -Force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Nueva migración</a:t>
                      </a:r>
                    </a:p>
                  </a:txBody>
                  <a:tcPr marT="54864" marB="54864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Comandos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Scaffold-DbContext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Add-Migration, Update-Database</a:t>
                      </a:r>
                    </a:p>
                  </a:txBody>
                  <a:tcPr marT="54864" marB="54864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Actividad: sistema de matrícula</a:t>
            </a:r>
          </a:p>
        </p:txBody>
      </p:sp>
      <p:sp>
        <p:nvSpPr>
          <p:cNvPr id="12" name="Fila 12"/>
          <p:cNvSpPr/>
          <p:nvPr/>
        </p:nvSpPr>
        <p:spPr>
          <a:xfrm>
            <a:off x="822960" y="1783080"/>
            <a:ext cx="6995160" cy="685800"/>
          </a:xfrm>
          <a:prstGeom prst="roundRect">
            <a:avLst>
              <a:gd name="adj" fmla="val 15000"/>
            </a:avLst>
          </a:prstGeom>
          <a:solidFill>
            <a:schemeClr val="lt2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3" name="Número 13"/>
          <p:cNvSpPr/>
          <p:nvPr/>
        </p:nvSpPr>
        <p:spPr>
          <a:xfrm>
            <a:off x="411480" y="1801368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b="1" dirty="0">
                <a:solidFill>
                  <a:schemeClr val="lt1"/>
                </a:solidFill>
              </a:rPr>
              <a:t>1</a:t>
            </a:r>
            <a:endParaRPr lang="es-PE" sz="2200" dirty="0"/>
          </a:p>
        </p:txBody>
      </p:sp>
      <p:sp>
        <p:nvSpPr>
          <p:cNvPr id="14" name="Paso 14"/>
          <p:cNvSpPr txBox="1"/>
          <p:nvPr/>
        </p:nvSpPr>
        <p:spPr>
          <a:xfrm>
            <a:off x="1234440" y="1783080"/>
            <a:ext cx="6492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>
                <a:solidFill>
                  <a:schemeClr val="dk1"/>
                </a:solidFill>
              </a:rPr>
              <a:t>¿Qué entidades y relaciones necesitas (Alumno, Curso, Matrícula)?</a:t>
            </a:r>
            <a:endParaRPr lang="es-PE" sz="1800" dirty="0"/>
          </a:p>
        </p:txBody>
      </p:sp>
      <p:sp>
        <p:nvSpPr>
          <p:cNvPr id="15" name="Fila 15"/>
          <p:cNvSpPr/>
          <p:nvPr/>
        </p:nvSpPr>
        <p:spPr>
          <a:xfrm>
            <a:off x="822960" y="2651760"/>
            <a:ext cx="6995160" cy="685800"/>
          </a:xfrm>
          <a:prstGeom prst="roundRect">
            <a:avLst>
              <a:gd name="adj" fmla="val 15000"/>
            </a:avLst>
          </a:prstGeom>
          <a:solidFill>
            <a:schemeClr val="lt2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6" name="Número 16"/>
          <p:cNvSpPr/>
          <p:nvPr/>
        </p:nvSpPr>
        <p:spPr>
          <a:xfrm>
            <a:off x="411480" y="2670048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b="1" dirty="0">
                <a:solidFill>
                  <a:schemeClr val="lt1"/>
                </a:solidFill>
              </a:rPr>
              <a:t>2</a:t>
            </a:r>
            <a:endParaRPr lang="es-PE" sz="2200" dirty="0"/>
          </a:p>
        </p:txBody>
      </p:sp>
      <p:sp>
        <p:nvSpPr>
          <p:cNvPr id="17" name="Paso 17"/>
          <p:cNvSpPr txBox="1"/>
          <p:nvPr/>
        </p:nvSpPr>
        <p:spPr>
          <a:xfrm>
            <a:off x="1234440" y="2651760"/>
            <a:ext cx="6492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>
                <a:solidFill>
                  <a:schemeClr val="dk1"/>
                </a:solidFill>
              </a:rPr>
              <a:t>¿Qué anotaciones aplicarías a cada propiedad?</a:t>
            </a:r>
            <a:endParaRPr lang="es-PE" sz="1800" dirty="0"/>
          </a:p>
        </p:txBody>
      </p:sp>
      <p:sp>
        <p:nvSpPr>
          <p:cNvPr id="18" name="Fila 18"/>
          <p:cNvSpPr/>
          <p:nvPr/>
        </p:nvSpPr>
        <p:spPr>
          <a:xfrm>
            <a:off x="822960" y="3520440"/>
            <a:ext cx="6995160" cy="685800"/>
          </a:xfrm>
          <a:prstGeom prst="roundRect">
            <a:avLst>
              <a:gd name="adj" fmla="val 15000"/>
            </a:avLst>
          </a:prstGeom>
          <a:solidFill>
            <a:schemeClr val="lt2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19" name="Número 19"/>
          <p:cNvSpPr/>
          <p:nvPr/>
        </p:nvSpPr>
        <p:spPr>
          <a:xfrm>
            <a:off x="411480" y="3538728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b="1" dirty="0">
                <a:solidFill>
                  <a:schemeClr val="lt1"/>
                </a:solidFill>
              </a:rPr>
              <a:t>3</a:t>
            </a:r>
            <a:endParaRPr lang="es-PE" sz="2200" dirty="0"/>
          </a:p>
        </p:txBody>
      </p:sp>
      <p:sp>
        <p:nvSpPr>
          <p:cNvPr id="20" name="Paso 20"/>
          <p:cNvSpPr txBox="1"/>
          <p:nvPr/>
        </p:nvSpPr>
        <p:spPr>
          <a:xfrm>
            <a:off x="1234440" y="3520440"/>
            <a:ext cx="6492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>
                <a:solidFill>
                  <a:schemeClr val="dk1"/>
                </a:solidFill>
              </a:rPr>
              <a:t>Si agregas Correo a Alumno, ¿qué migración creas?</a:t>
            </a:r>
            <a:endParaRPr lang="es-PE" sz="1800" dirty="0"/>
          </a:p>
        </p:txBody>
      </p:sp>
      <p:sp>
        <p:nvSpPr>
          <p:cNvPr id="21" name="Fila 21"/>
          <p:cNvSpPr/>
          <p:nvPr/>
        </p:nvSpPr>
        <p:spPr>
          <a:xfrm>
            <a:off x="822960" y="4389120"/>
            <a:ext cx="6995160" cy="685800"/>
          </a:xfrm>
          <a:prstGeom prst="roundRect">
            <a:avLst>
              <a:gd name="adj" fmla="val 15000"/>
            </a:avLst>
          </a:prstGeom>
          <a:solidFill>
            <a:schemeClr val="lt2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s-PE" sz="1400" dirty="0"/>
          </a:p>
        </p:txBody>
      </p:sp>
      <p:sp>
        <p:nvSpPr>
          <p:cNvPr id="22" name="Número 22"/>
          <p:cNvSpPr/>
          <p:nvPr/>
        </p:nvSpPr>
        <p:spPr>
          <a:xfrm>
            <a:off x="411480" y="4407408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200" b="1" dirty="0">
                <a:solidFill>
                  <a:schemeClr val="lt1"/>
                </a:solidFill>
              </a:rPr>
              <a:t>4</a:t>
            </a:r>
            <a:endParaRPr lang="es-PE" sz="2200" dirty="0"/>
          </a:p>
        </p:txBody>
      </p:sp>
      <p:sp>
        <p:nvSpPr>
          <p:cNvPr id="23" name="Paso 23"/>
          <p:cNvSpPr txBox="1"/>
          <p:nvPr/>
        </p:nvSpPr>
        <p:spPr>
          <a:xfrm>
            <a:off x="1234440" y="4389120"/>
            <a:ext cx="6492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>
                <a:solidFill>
                  <a:schemeClr val="dk1"/>
                </a:solidFill>
              </a:rPr>
              <a:t>¿Cómo compruebas en SQL Server que se aplicó?</a:t>
            </a:r>
            <a:endParaRPr lang="es-PE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Roboto"/>
              <a:buNone/>
            </a:pPr>
            <a:r>
              <a:rPr lang="es-PE"/>
              <a:t>¿Preguntas?</a:t>
            </a:r>
            <a:endParaRPr/>
          </a:p>
        </p:txBody>
      </p:sp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3568" y="2420888"/>
            <a:ext cx="4224528" cy="422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4489312" y="1556807"/>
            <a:ext cx="3419872" cy="3744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Conclusiones</a:t>
            </a:r>
          </a:p>
        </p:txBody>
      </p:sp>
      <p:sp>
        <p:nvSpPr>
          <p:cNvPr id="12" name="Contenido 12"/>
          <p:cNvSpPr>
            <a:spLocks noGrp="1"/>
          </p:cNvSpPr>
          <p:nvPr>
            <p:ph type="body" idx="1"/>
          </p:nvPr>
        </p:nvSpPr>
        <p:spPr>
          <a:xfrm>
            <a:off x="411480" y="1783080"/>
            <a:ext cx="7406640" cy="4434840"/>
          </a:xfrm>
        </p:spPr>
        <p:txBody>
          <a:bodyPr wrap="square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</a:pPr>
            <a:r>
              <a:rPr lang="es-PE" sz="2000" dirty="0">
                <a:solidFill>
                  <a:schemeClr val="dk1"/>
                </a:solidFill>
              </a:rPr>
              <a:t>Code First: partes de las clases de C# y EF Core crea la base de datos.</a:t>
            </a:r>
            <a:endParaRPr lang="es-PE" sz="2000" dirty="0"/>
          </a:p>
          <a:p>
            <a:pPr marL="274320" indent="-2743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</a:pPr>
            <a:r>
              <a:rPr lang="es-PE" sz="2000" dirty="0">
                <a:solidFill>
                  <a:schemeClr val="dk1"/>
                </a:solidFill>
              </a:rPr>
              <a:t>El modelo se configura con convenciones y Data Annotations.</a:t>
            </a:r>
            <a:endParaRPr lang="es-PE" sz="2000" dirty="0"/>
          </a:p>
          <a:p>
            <a:pPr marL="274320" indent="-2743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</a:pPr>
            <a:r>
              <a:rPr lang="es-PE" sz="2000" dirty="0">
                <a:solidFill>
                  <a:schemeClr val="dk1"/>
                </a:solidFill>
              </a:rPr>
              <a:t>Cada cambio del modelo se registra en una migración (Add-Migration) y se aplica con Update-Database.</a:t>
            </a:r>
            <a:endParaRPr lang="es-PE" sz="2000" dirty="0"/>
          </a:p>
          <a:p>
            <a:pPr marL="274320" indent="-2743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</a:pPr>
            <a:r>
              <a:rPr lang="es-PE" sz="2000" dirty="0">
                <a:solidFill>
                  <a:schemeClr val="dk1"/>
                </a:solidFill>
              </a:rPr>
              <a:t>La tabla __EFMigrationsHistory y la carpeta Migrations deben coincidir.</a:t>
            </a:r>
            <a:endParaRPr lang="es-PE" sz="2000" dirty="0"/>
          </a:p>
          <a:p>
            <a:pPr marL="274320" indent="-2743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</a:pPr>
            <a:r>
              <a:rPr lang="es-PE" sz="2000" dirty="0">
                <a:solidFill>
                  <a:schemeClr val="dk1"/>
                </a:solidFill>
              </a:rPr>
              <a:t>Los datos iniciales se cargan con LINQ al iniciar la aplicación.</a:t>
            </a:r>
            <a:endParaRPr lang="es-PE" sz="2000" dirty="0"/>
          </a:p>
          <a:p>
            <a:pPr marL="274320" indent="-2743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</a:pPr>
            <a:r>
              <a:rPr lang="es-PE" sz="2000" dirty="0">
                <a:solidFill>
                  <a:schemeClr val="dk1"/>
                </a:solidFill>
              </a:rPr>
              <a:t>LINQ y SaveChanges funcionan igual que en Database First.</a:t>
            </a:r>
            <a:endParaRPr lang="es-PE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1"/>
          <p:cNvSpPr txBox="1">
            <a:spLocks noGrp="1"/>
          </p:cNvSpPr>
          <p:nvPr>
            <p:ph type="title"/>
          </p:nvPr>
        </p:nvSpPr>
        <p:spPr>
          <a:xfrm>
            <a:off x="722313" y="3284984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Roboto"/>
              <a:buNone/>
            </a:pPr>
            <a:r>
              <a:rPr lang="es-PE"/>
              <a:t>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_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_theme" id="{0A45140B-BE65-7341-AA26-23F032BD7B00}" vid="{BB2B28FD-80D4-4343-8CD5-A683D80D563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9243348-C08E-874B-AF97-236271595A89}">
  <we:reference id="wa200010725" version="1.0.0.1" store="es-MX" storeType="OMEX"/>
  <we:alternateReferences>
    <we:reference id="WA200010725" version="1.0.0.1" store="WA200010725" storeType="OMEX"/>
  </we:alternateReferences>
  <we:properties>
    <we:property name="claude.fileId" value="&quot;efb164e0-8746-43e5-b571-5a00f73880e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2448</Words>
  <Application>Microsoft Macintosh PowerPoint</Application>
  <PresentationFormat>Presentación en pantalla (4:3)</PresentationFormat>
  <Paragraphs>390</Paragraphs>
  <Slides>41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6" baseType="lpstr">
      <vt:lpstr>Roboto</vt:lpstr>
      <vt:lpstr>Calibri</vt:lpstr>
      <vt:lpstr>Consolas</vt:lpstr>
      <vt:lpstr>Arial</vt:lpstr>
      <vt:lpstr>tec_theme</vt:lpstr>
      <vt:lpstr>Desarrollo de Aplicaciones Empresariales Avanzadas</vt:lpstr>
      <vt:lpstr>Capacidad</vt:lpstr>
      <vt:lpstr>Logro de la Sesión</vt:lpstr>
      <vt:lpstr>Contenido a Tratar</vt:lpstr>
      <vt:lpstr>Para empezar</vt:lpstr>
      <vt:lpstr>Introducción</vt:lpstr>
      <vt:lpstr>Enfoques de desarrollo</vt:lpstr>
      <vt:lpstr>¿Cuándo usar cada uno?</vt:lpstr>
      <vt:lpstr>Flujo de trabajo Code First</vt:lpstr>
      <vt:lpstr>Instalación</vt:lpstr>
      <vt:lpstr>Convenciones de EF Core</vt:lpstr>
      <vt:lpstr>Entidad Autor</vt:lpstr>
      <vt:lpstr>Entidad Libro con anotaciones</vt:lpstr>
      <vt:lpstr>Data Annotations</vt:lpstr>
      <vt:lpstr>Esquema y validación</vt:lpstr>
      <vt:lpstr>Relación uno a muchos</vt:lpstr>
      <vt:lpstr>Relación muchos a muchos</vt:lpstr>
      <vt:lpstr>Muchos a muchos con datos</vt:lpstr>
      <vt:lpstr>DbContext en Code First</vt:lpstr>
      <vt:lpstr>Cadena de conexión</vt:lpstr>
      <vt:lpstr>Migraciones</vt:lpstr>
      <vt:lpstr>Migraciones</vt:lpstr>
      <vt:lpstr>Crear la primera migración</vt:lpstr>
      <vt:lpstr>Qué genera Add-Migration</vt:lpstr>
      <vt:lpstr>Archivo de migración</vt:lpstr>
      <vt:lpstr>Aplicar la migración</vt:lpstr>
      <vt:lpstr>Tabla __EFMigrationsHistory</vt:lpstr>
      <vt:lpstr>Cambiar el modelo</vt:lpstr>
      <vt:lpstr>Segunda migración</vt:lpstr>
      <vt:lpstr>Columna obligatoria con datos</vt:lpstr>
      <vt:lpstr>Comandos de migraciones</vt:lpstr>
      <vt:lpstr>Deshacer una migración</vt:lpstr>
      <vt:lpstr>Buenas prácticas con migraciones</vt:lpstr>
      <vt:lpstr>Datos iniciales</vt:lpstr>
      <vt:lpstr>Consultas: igual que antes</vt:lpstr>
      <vt:lpstr>Eliminación lógica</vt:lpstr>
      <vt:lpstr>Database First y Code First</vt:lpstr>
      <vt:lpstr>Actividad: sistema de matrícula</vt:lpstr>
      <vt:lpstr>¿Preguntas?</vt:lpstr>
      <vt:lpstr>Conclusiones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 Framework Core: Database First</dc:title>
  <dc:creator>Dennis Apaza</dc:creator>
  <cp:lastModifiedBy>Edwin Arevalo Sermeno</cp:lastModifiedBy>
  <cp:revision>3</cp:revision>
  <dcterms:created xsi:type="dcterms:W3CDTF">2013-12-12T19:45:09Z</dcterms:created>
  <dcterms:modified xsi:type="dcterms:W3CDTF">2026-10-28T05:34:49Z</dcterms:modified>
</cp:coreProperties>
</file>